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vod" id="{3402eae9-ddf1-4581-1243-f2bdeb962cec}">
          <p14:sldIdLst>
            <p14:sldId id="256"/>
            <p14:sldId id="257"/>
            <p14:sldId id="258"/>
          </p14:sldIdLst>
        </p14:section>
        <p14:section name="SDLC" id="{df0cae86-38fd-230e-776b-589f49b0f1b5}">
          <p14:sldIdLst>
            <p14:sldId id="259"/>
            <p14:sldId id="260"/>
            <p14:sldId id="261"/>
          </p14:sldIdLst>
        </p14:section>
        <p14:section name="DevOps" id="{83a8bfa4-de59-45e8-ae69-20c195281c7d}">
          <p14:sldIdLst>
            <p14:sldId id="262"/>
            <p14:sldId id="263"/>
            <p14:sldId id="264"/>
            <p14:sldId id="265"/>
          </p14:sldIdLst>
        </p14:section>
        <p14:section name="CI" id="{2205ffc7-77e5-31d3-787f-c95525d9e6eb}">
          <p14:sldIdLst>
            <p14:sldId id="266"/>
            <p14:sldId id="267"/>
            <p14:sldId id="268"/>
            <p14:sldId id="269"/>
          </p14:sldIdLst>
        </p14:section>
        <p14:section name="Produkcija" id="{af720326-2d2a-d21f-66eb-6182f4b98f63}">
          <p14:sldIdLst>
            <p14:sldId id="270"/>
            <p14:sldId id="271"/>
            <p14:sldId id="272"/>
            <p14:sldId id="273"/>
            <p14:sldId id="274"/>
          </p14:sldIdLst>
        </p14:section>
        <p14:section name="Provjera" id="{b293a003-f662-6a47-2ae0-e779bc2b558f}">
          <p14:sldIdLst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Blok A prvog tjedna: uvod u kolegij, SDLC, DevOps, CI workflowi i produkcijski sustavi. Blok B je praktično postavljanje lokalnog okruženja.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Za detalje koristiti postojeći izvedbeni plan (slajdovi 1–12).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Pitati grupu prije nego što se otkrije odgovor. Odgovor: tisuće puta dnevno. Tradicionalno je razvoj predavao kod operacijama "preko zida"; isporuka je bila rijetka, rizična i ručna.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CALMS: Culture, Automation, Lean, Measurement, Sharing.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Svaka tema 2–12 je jedna točka u petlji: pokazati tablicu iz prijedlog-strukture.md.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Trigger = događaj koji pokreće workflow. Runner = računalo koje izvršava. Job = skup koraka na jednom runneru. Step = jedna naredba ili akcija. Artefakt = datoteka koju workflow proizvede. Status provjere = zelena ili crvena kvačica na PR-u.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Najprije pokazati workflow u nekom javnom repozitoriju (zelene i crvene kvačice na PR-u), zatim ovaj minimalni primjer koji ćemo zapisati u naše repozitorije kao .github/workflows/release_please.yml.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Naglasiti: runner je "tuđe računalo u oblaku", što je most prema sljedećoj cjelini o hardveru i produkcijskim sustavima.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Što više idemo prema SaaS-u, to manje sami održavamo, ali imamo i manje kontrole.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Odgovori: 1) Plan, Code, Build, Test, Release, Deploy, Operate, Monitor; održavanju odgovaraju Operate i Monitor. 2) Delivery: uvijek spremno, u produkciju ručnim gumbom; deployment: automatski u produkciju. 3) Računalo koje izvršava jobove workflowa. 4) Self-hosted: potpuna kontrola; cloud: skaliranje u minutama, plaćanje po potrošnji. 5) feat: i fix: (chore: ne otvara izdanje).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63040"/>
            <a:ext cx="804672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103120" y="1737360"/>
            <a:ext cx="64922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2103120" y="2743200"/>
            <a:ext cx="6492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Praktikum: Razvojne operacije · Tjedan 1 · Blok 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op-left"/>
          <p:cNvSpPr/>
          <p:nvPr/>
        </p:nvSpPr>
        <p:spPr>
          <a:xfrm>
            <a:off x="5669280" y="411480"/>
            <a:ext cx="1463040" cy="914400"/>
          </a:xfrm>
          <a:prstGeom prst="ellipse">
            <a:avLst/>
          </a:prstGeom>
          <a:ln w="63500">
            <a:solidFill>
              <a:schemeClr val="accent3"/>
            </a:solidFill>
            <a:prstDash val="solid"/>
          </a:ln>
        </p:spPr>
      </p:sp>
      <p:sp>
        <p:nvSpPr>
          <p:cNvPr id="3" name="loop-right"/>
          <p:cNvSpPr/>
          <p:nvPr/>
        </p:nvSpPr>
        <p:spPr>
          <a:xfrm>
            <a:off x="7040880" y="411480"/>
            <a:ext cx="1463040" cy="914400"/>
          </a:xfrm>
          <a:prstGeom prst="ellipse">
            <a:avLst/>
          </a:prstGeom>
          <a:ln w="63500">
            <a:solidFill>
              <a:schemeClr val="accent2"/>
            </a:solidFill>
            <a:prstDash val="solid"/>
          </a:ln>
        </p:spPr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46304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Uvod, SDLC, DevOps, CI i produkcijski sustavi</a:t>
            </a:r>
            <a:endParaRPr lang="en-US" sz="38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28803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</a:rPr>
              <a:t>Praktikum: Razvojne operacije · Tjedan 1 · Blok A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Sadržaj bloka</a:t>
            </a:r>
            <a:endParaRPr lang="en-US" sz="2800" dirty="0"/>
          </a:p>
        </p:txBody>
      </p:sp>
      <p:sp>
        <p:nvSpPr>
          <p:cNvPr id="3" name="card-1"/>
          <p:cNvSpPr/>
          <p:nvPr/>
        </p:nvSpPr>
        <p:spPr>
          <a:xfrm>
            <a:off x="457200" y="1143000"/>
            <a:ext cx="8229600" cy="493776"/>
          </a:xfrm>
          <a:prstGeom prst="roundRect">
            <a:avLst>
              <a:gd name="adj" fmla="val 148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agenda-num-2"/>
          <p:cNvSpPr txBox="1"/>
          <p:nvPr/>
        </p:nvSpPr>
        <p:spPr>
          <a:xfrm>
            <a:off x="640080" y="1143000"/>
            <a:ext cx="457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agenda-topic-3"/>
          <p:cNvSpPr txBox="1"/>
          <p:nvPr/>
        </p:nvSpPr>
        <p:spPr>
          <a:xfrm>
            <a:off x="1188720" y="1143000"/>
            <a:ext cx="4572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Uvod u kolegij</a:t>
            </a:r>
            <a:endParaRPr lang="en-US" sz="1600" dirty="0"/>
          </a:p>
        </p:txBody>
      </p:sp>
      <p:sp>
        <p:nvSpPr>
          <p:cNvPr id="6" name="agenda-form-4"/>
          <p:cNvSpPr txBox="1"/>
          <p:nvPr/>
        </p:nvSpPr>
        <p:spPr>
          <a:xfrm>
            <a:off x="5852160" y="1143000"/>
            <a:ext cx="2651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Prezentacija</a:t>
            </a:r>
            <a:endParaRPr lang="en-US" sz="1400" dirty="0"/>
          </a:p>
        </p:txBody>
      </p:sp>
      <p:sp>
        <p:nvSpPr>
          <p:cNvPr id="7" name="agenda-num-5"/>
          <p:cNvSpPr txBox="1"/>
          <p:nvPr/>
        </p:nvSpPr>
        <p:spPr>
          <a:xfrm>
            <a:off x="640080" y="1691640"/>
            <a:ext cx="457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agenda-topic-6"/>
          <p:cNvSpPr txBox="1"/>
          <p:nvPr/>
        </p:nvSpPr>
        <p:spPr>
          <a:xfrm>
            <a:off x="1188720" y="1691640"/>
            <a:ext cx="4572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SDLC</a:t>
            </a:r>
            <a:endParaRPr lang="en-US" sz="1600" dirty="0"/>
          </a:p>
        </p:txBody>
      </p:sp>
      <p:sp>
        <p:nvSpPr>
          <p:cNvPr id="9" name="agenda-form-7"/>
          <p:cNvSpPr txBox="1"/>
          <p:nvPr/>
        </p:nvSpPr>
        <p:spPr>
          <a:xfrm>
            <a:off x="5852160" y="1691640"/>
            <a:ext cx="2651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Predavanje + pitanje grupi</a:t>
            </a:r>
            <a:endParaRPr lang="en-US" sz="1400" dirty="0"/>
          </a:p>
        </p:txBody>
      </p:sp>
      <p:sp>
        <p:nvSpPr>
          <p:cNvPr id="10" name="card-8"/>
          <p:cNvSpPr/>
          <p:nvPr/>
        </p:nvSpPr>
        <p:spPr>
          <a:xfrm>
            <a:off x="457200" y="2240280"/>
            <a:ext cx="8229600" cy="493776"/>
          </a:xfrm>
          <a:prstGeom prst="roundRect">
            <a:avLst>
              <a:gd name="adj" fmla="val 148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agenda-num-9"/>
          <p:cNvSpPr txBox="1"/>
          <p:nvPr/>
        </p:nvSpPr>
        <p:spPr>
          <a:xfrm>
            <a:off x="640080" y="2240280"/>
            <a:ext cx="457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agenda-topic-10"/>
          <p:cNvSpPr txBox="1"/>
          <p:nvPr/>
        </p:nvSpPr>
        <p:spPr>
          <a:xfrm>
            <a:off x="1188720" y="2240280"/>
            <a:ext cx="4572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DevOps i presjek sa SDLC-om</a:t>
            </a:r>
            <a:endParaRPr lang="en-US" sz="1600" dirty="0"/>
          </a:p>
        </p:txBody>
      </p:sp>
      <p:sp>
        <p:nvSpPr>
          <p:cNvPr id="13" name="agenda-form-11"/>
          <p:cNvSpPr txBox="1"/>
          <p:nvPr/>
        </p:nvSpPr>
        <p:spPr>
          <a:xfrm>
            <a:off x="5852160" y="2240280"/>
            <a:ext cx="2651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Predavanje</a:t>
            </a:r>
            <a:endParaRPr lang="en-US" sz="1400" dirty="0"/>
          </a:p>
        </p:txBody>
      </p:sp>
      <p:sp>
        <p:nvSpPr>
          <p:cNvPr id="14" name="agenda-num-12"/>
          <p:cNvSpPr txBox="1"/>
          <p:nvPr/>
        </p:nvSpPr>
        <p:spPr>
          <a:xfrm>
            <a:off x="640080" y="2788920"/>
            <a:ext cx="457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4</a:t>
            </a:r>
            <a:endParaRPr lang="en-US" sz="1600" dirty="0"/>
          </a:p>
        </p:txBody>
      </p:sp>
      <p:sp>
        <p:nvSpPr>
          <p:cNvPr id="15" name="agenda-topic-13"/>
          <p:cNvSpPr txBox="1"/>
          <p:nvPr/>
        </p:nvSpPr>
        <p:spPr>
          <a:xfrm>
            <a:off x="1188720" y="2788920"/>
            <a:ext cx="4572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CI workflowi</a:t>
            </a:r>
            <a:endParaRPr lang="en-US" sz="1600" dirty="0"/>
          </a:p>
        </p:txBody>
      </p:sp>
      <p:sp>
        <p:nvSpPr>
          <p:cNvPr id="16" name="agenda-form-14"/>
          <p:cNvSpPr txBox="1"/>
          <p:nvPr/>
        </p:nvSpPr>
        <p:spPr>
          <a:xfrm>
            <a:off x="5852160" y="2788920"/>
            <a:ext cx="2651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Predavanje + živi prikaz</a:t>
            </a:r>
            <a:endParaRPr lang="en-US" sz="1400" dirty="0"/>
          </a:p>
        </p:txBody>
      </p:sp>
      <p:sp>
        <p:nvSpPr>
          <p:cNvPr id="17" name="card-15"/>
          <p:cNvSpPr/>
          <p:nvPr/>
        </p:nvSpPr>
        <p:spPr>
          <a:xfrm>
            <a:off x="457200" y="3337560"/>
            <a:ext cx="8229600" cy="493776"/>
          </a:xfrm>
          <a:prstGeom prst="roundRect">
            <a:avLst>
              <a:gd name="adj" fmla="val 148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agenda-num-16"/>
          <p:cNvSpPr txBox="1"/>
          <p:nvPr/>
        </p:nvSpPr>
        <p:spPr>
          <a:xfrm>
            <a:off x="640080" y="3337560"/>
            <a:ext cx="457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5</a:t>
            </a:r>
            <a:endParaRPr lang="en-US" sz="1600" dirty="0"/>
          </a:p>
        </p:txBody>
      </p:sp>
      <p:sp>
        <p:nvSpPr>
          <p:cNvPr id="19" name="agenda-topic-17"/>
          <p:cNvSpPr txBox="1"/>
          <p:nvPr/>
        </p:nvSpPr>
        <p:spPr>
          <a:xfrm>
            <a:off x="1188720" y="3337560"/>
            <a:ext cx="4572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Hardver i produkcijski sustavi</a:t>
            </a:r>
            <a:endParaRPr lang="en-US" sz="1600" dirty="0"/>
          </a:p>
        </p:txBody>
      </p:sp>
      <p:sp>
        <p:nvSpPr>
          <p:cNvPr id="20" name="agenda-form-18"/>
          <p:cNvSpPr txBox="1"/>
          <p:nvPr/>
        </p:nvSpPr>
        <p:spPr>
          <a:xfrm>
            <a:off x="5852160" y="3337560"/>
            <a:ext cx="2651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Predavanje + rasprava</a:t>
            </a:r>
            <a:endParaRPr lang="en-US" sz="1400" dirty="0"/>
          </a:p>
        </p:txBody>
      </p:sp>
      <p:sp>
        <p:nvSpPr>
          <p:cNvPr id="21" name="agenda-num-19"/>
          <p:cNvSpPr txBox="1"/>
          <p:nvPr/>
        </p:nvSpPr>
        <p:spPr>
          <a:xfrm>
            <a:off x="640080" y="3886200"/>
            <a:ext cx="457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6</a:t>
            </a:r>
            <a:endParaRPr lang="en-US" sz="1600" dirty="0"/>
          </a:p>
        </p:txBody>
      </p:sp>
      <p:sp>
        <p:nvSpPr>
          <p:cNvPr id="22" name="agenda-topic-20"/>
          <p:cNvSpPr txBox="1"/>
          <p:nvPr/>
        </p:nvSpPr>
        <p:spPr>
          <a:xfrm>
            <a:off x="1188720" y="3886200"/>
            <a:ext cx="4572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Provjera razumijevanja</a:t>
            </a:r>
            <a:endParaRPr lang="en-US" sz="1600" dirty="0"/>
          </a:p>
        </p:txBody>
      </p:sp>
      <p:sp>
        <p:nvSpPr>
          <p:cNvPr id="23" name="agenda-form-21"/>
          <p:cNvSpPr txBox="1"/>
          <p:nvPr/>
        </p:nvSpPr>
        <p:spPr>
          <a:xfrm>
            <a:off x="5852160" y="3886200"/>
            <a:ext cx="2651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5 kratkih pitanja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O kolegiju</a:t>
            </a:r>
            <a:endParaRPr lang="en-US" sz="2800" dirty="0"/>
          </a:p>
        </p:txBody>
      </p:sp>
      <p:sp>
        <p:nvSpPr>
          <p:cNvPr id="3" name="card-22"/>
          <p:cNvSpPr/>
          <p:nvPr/>
        </p:nvSpPr>
        <p:spPr>
          <a:xfrm>
            <a:off x="457200" y="1143000"/>
            <a:ext cx="2560320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badge-23"/>
          <p:cNvSpPr/>
          <p:nvPr/>
        </p:nvSpPr>
        <p:spPr>
          <a:xfrm>
            <a:off x="640080" y="13258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badge-text-24"/>
          <p:cNvSpPr txBox="1"/>
          <p:nvPr/>
        </p:nvSpPr>
        <p:spPr>
          <a:xfrm>
            <a:off x="64008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card-h-25"/>
          <p:cNvSpPr txBox="1"/>
          <p:nvPr/>
        </p:nvSpPr>
        <p:spPr>
          <a:xfrm>
            <a:off x="1234440" y="13258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Format</a:t>
            </a:r>
            <a:endParaRPr lang="en-US" sz="1600" dirty="0"/>
          </a:p>
        </p:txBody>
      </p:sp>
      <p:sp>
        <p:nvSpPr>
          <p:cNvPr id="7" name="card-t-26"/>
          <p:cNvSpPr txBox="1"/>
          <p:nvPr/>
        </p:nvSpPr>
        <p:spPr>
          <a:xfrm>
            <a:off x="640080" y="192024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12 tjedana × 2 bloka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5 ishoda učenja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Obavezna dolaznost: 70 %</a:t>
            </a:r>
            <a:endParaRPr lang="en-US" sz="1400" dirty="0"/>
          </a:p>
        </p:txBody>
      </p:sp>
      <p:sp>
        <p:nvSpPr>
          <p:cNvPr id="8" name="card-27"/>
          <p:cNvSpPr/>
          <p:nvPr/>
        </p:nvSpPr>
        <p:spPr>
          <a:xfrm>
            <a:off x="3291840" y="1143000"/>
            <a:ext cx="2560320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badge-28"/>
          <p:cNvSpPr/>
          <p:nvPr/>
        </p:nvSpPr>
        <p:spPr>
          <a:xfrm>
            <a:off x="3474720" y="132588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badge-text-29"/>
          <p:cNvSpPr txBox="1"/>
          <p:nvPr/>
        </p:nvSpPr>
        <p:spPr>
          <a:xfrm>
            <a:off x="347472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card-h-30"/>
          <p:cNvSpPr txBox="1"/>
          <p:nvPr/>
        </p:nvSpPr>
        <p:spPr>
          <a:xfrm>
            <a:off x="4069080" y="13258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Semestralni projekt</a:t>
            </a:r>
            <a:endParaRPr lang="en-US" sz="1600" dirty="0"/>
          </a:p>
        </p:txBody>
      </p:sp>
      <p:sp>
        <p:nvSpPr>
          <p:cNvPr id="12" name="card-t-31"/>
          <p:cNvSpPr txBox="1"/>
          <p:nvPr/>
        </p:nvSpPr>
        <p:spPr>
          <a:xfrm>
            <a:off x="3474720" y="192024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Python skripte → Ollama + Open WebUI u Dockeru → DevOps lokalno i na zajedničkom GCP VM-u</a:t>
            </a:r>
            <a:endParaRPr lang="en-US" sz="1400" dirty="0"/>
          </a:p>
        </p:txBody>
      </p:sp>
      <p:sp>
        <p:nvSpPr>
          <p:cNvPr id="13" name="card-32"/>
          <p:cNvSpPr/>
          <p:nvPr/>
        </p:nvSpPr>
        <p:spPr>
          <a:xfrm>
            <a:off x="6126480" y="1143000"/>
            <a:ext cx="2560320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badge-33"/>
          <p:cNvSpPr/>
          <p:nvPr/>
        </p:nvSpPr>
        <p:spPr>
          <a:xfrm>
            <a:off x="6309360" y="1325880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badge-text-34"/>
          <p:cNvSpPr txBox="1"/>
          <p:nvPr/>
        </p:nvSpPr>
        <p:spPr>
          <a:xfrm>
            <a:off x="630936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card-h-35"/>
          <p:cNvSpPr txBox="1"/>
          <p:nvPr/>
        </p:nvSpPr>
        <p:spPr>
          <a:xfrm>
            <a:off x="6903720" y="13258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Prezentacija</a:t>
            </a:r>
            <a:endParaRPr lang="en-US" sz="1600" dirty="0"/>
          </a:p>
        </p:txBody>
      </p:sp>
      <p:sp>
        <p:nvSpPr>
          <p:cNvPr id="17" name="card-t-36"/>
          <p:cNvSpPr txBox="1"/>
          <p:nvPr/>
        </p:nvSpPr>
        <p:spPr>
          <a:xfrm>
            <a:off x="6309360" y="192024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Timsko predstavljanje semestralnog projekta na kraju kolegija</a:t>
            </a:r>
            <a:endParaRPr lang="en-US" sz="1400" dirty="0"/>
          </a:p>
        </p:txBody>
      </p:sp>
      <p:sp>
        <p:nvSpPr>
          <p:cNvPr id="18" name="grading-h"/>
          <p:cNvSpPr txBox="1"/>
          <p:nvPr/>
        </p:nvSpPr>
        <p:spPr>
          <a:xfrm>
            <a:off x="457200" y="3383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Vrednovanje</a:t>
            </a:r>
            <a:endParaRPr lang="en-US" sz="1600" dirty="0"/>
          </a:p>
        </p:txBody>
      </p:sp>
      <p:sp>
        <p:nvSpPr>
          <p:cNvPr id="19" name="grade-num-37"/>
          <p:cNvSpPr txBox="1"/>
          <p:nvPr/>
        </p:nvSpPr>
        <p:spPr>
          <a:xfrm>
            <a:off x="457200" y="374904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40 %</a:t>
            </a:r>
            <a:endParaRPr lang="en-US" sz="3000" dirty="0"/>
          </a:p>
        </p:txBody>
      </p:sp>
      <p:sp>
        <p:nvSpPr>
          <p:cNvPr id="20" name="grade-label-38"/>
          <p:cNvSpPr txBox="1"/>
          <p:nvPr/>
        </p:nvSpPr>
        <p:spPr>
          <a:xfrm>
            <a:off x="1508760" y="37490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praktični zadaci</a:t>
            </a:r>
            <a:endParaRPr lang="en-US" sz="1400" dirty="0"/>
          </a:p>
        </p:txBody>
      </p:sp>
      <p:sp>
        <p:nvSpPr>
          <p:cNvPr id="21" name="grade-num-39"/>
          <p:cNvSpPr txBox="1"/>
          <p:nvPr/>
        </p:nvSpPr>
        <p:spPr>
          <a:xfrm>
            <a:off x="3291840" y="374904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30 %</a:t>
            </a:r>
            <a:endParaRPr lang="en-US" sz="3000" dirty="0"/>
          </a:p>
        </p:txBody>
      </p:sp>
      <p:sp>
        <p:nvSpPr>
          <p:cNvPr id="22" name="grade-label-40"/>
          <p:cNvSpPr txBox="1"/>
          <p:nvPr/>
        </p:nvSpPr>
        <p:spPr>
          <a:xfrm>
            <a:off x="4343400" y="37490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individualne i grupne zadaće</a:t>
            </a:r>
            <a:endParaRPr lang="en-US" sz="1400" dirty="0"/>
          </a:p>
        </p:txBody>
      </p:sp>
      <p:sp>
        <p:nvSpPr>
          <p:cNvPr id="23" name="grade-num-41"/>
          <p:cNvSpPr txBox="1"/>
          <p:nvPr/>
        </p:nvSpPr>
        <p:spPr>
          <a:xfrm>
            <a:off x="6126480" y="374904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5"/>
                </a:solidFill>
              </a:rPr>
              <a:t>30 %</a:t>
            </a:r>
            <a:endParaRPr lang="en-US" sz="3000" dirty="0"/>
          </a:p>
        </p:txBody>
      </p:sp>
      <p:sp>
        <p:nvSpPr>
          <p:cNvPr id="24" name="grade-label-42"/>
          <p:cNvSpPr txBox="1"/>
          <p:nvPr/>
        </p:nvSpPr>
        <p:spPr>
          <a:xfrm>
            <a:off x="7178040" y="37490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prezentacija projekta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-43"/>
          <p:cNvSpPr/>
          <p:nvPr/>
        </p:nvSpPr>
        <p:spPr>
          <a:xfrm>
            <a:off x="548640" y="1783080"/>
            <a:ext cx="1188720" cy="11887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badge-text-44"/>
          <p:cNvSpPr txBox="1"/>
          <p:nvPr/>
        </p:nvSpPr>
        <p:spPr>
          <a:xfrm>
            <a:off x="548640" y="17830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1</a:t>
            </a:r>
            <a:endParaRPr lang="en-US" sz="4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103120" y="1737360"/>
            <a:ext cx="649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SDLC</a:t>
            </a:r>
            <a:endParaRPr lang="en-US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103120" y="2743200"/>
            <a:ext cx="649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Životni ciklus razvoja softvera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Faze životnog ciklusa</a:t>
            </a:r>
            <a:endParaRPr lang="en-US" sz="2800" dirty="0"/>
          </a:p>
        </p:txBody>
      </p:sp>
      <p:sp>
        <p:nvSpPr>
          <p:cNvPr id="3" name="badge-45"/>
          <p:cNvSpPr/>
          <p:nvPr/>
        </p:nvSpPr>
        <p:spPr>
          <a:xfrm>
            <a:off x="722376" y="1371600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badge-text-46"/>
          <p:cNvSpPr txBox="1"/>
          <p:nvPr/>
        </p:nvSpPr>
        <p:spPr>
          <a:xfrm>
            <a:off x="722376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phase-47"/>
          <p:cNvSpPr txBox="1"/>
          <p:nvPr/>
        </p:nvSpPr>
        <p:spPr>
          <a:xfrm>
            <a:off x="402336" y="20116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Planning</a:t>
            </a:r>
            <a:endParaRPr lang="en-US" sz="1200" dirty="0"/>
          </a:p>
        </p:txBody>
      </p:sp>
      <p:sp>
        <p:nvSpPr>
          <p:cNvPr id="6" name="arrow-48"/>
          <p:cNvSpPr/>
          <p:nvPr/>
        </p:nvSpPr>
        <p:spPr>
          <a:xfrm>
            <a:off x="1316736" y="1645920"/>
            <a:ext cx="54864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7" name="badge-49"/>
          <p:cNvSpPr/>
          <p:nvPr/>
        </p:nvSpPr>
        <p:spPr>
          <a:xfrm>
            <a:off x="1911096" y="1371600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badge-text-50"/>
          <p:cNvSpPr txBox="1"/>
          <p:nvPr/>
        </p:nvSpPr>
        <p:spPr>
          <a:xfrm>
            <a:off x="1911096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phase-51"/>
          <p:cNvSpPr txBox="1"/>
          <p:nvPr/>
        </p:nvSpPr>
        <p:spPr>
          <a:xfrm>
            <a:off x="1591056" y="20116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Requirements</a:t>
            </a:r>
            <a:endParaRPr lang="en-US" sz="1200" dirty="0"/>
          </a:p>
        </p:txBody>
      </p:sp>
      <p:sp>
        <p:nvSpPr>
          <p:cNvPr id="10" name="arrow-52"/>
          <p:cNvSpPr/>
          <p:nvPr/>
        </p:nvSpPr>
        <p:spPr>
          <a:xfrm>
            <a:off x="2505456" y="1645920"/>
            <a:ext cx="54864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1" name="badge-53"/>
          <p:cNvSpPr/>
          <p:nvPr/>
        </p:nvSpPr>
        <p:spPr>
          <a:xfrm>
            <a:off x="3099816" y="1371600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" name="badge-text-54"/>
          <p:cNvSpPr txBox="1"/>
          <p:nvPr/>
        </p:nvSpPr>
        <p:spPr>
          <a:xfrm>
            <a:off x="3099816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phase-55"/>
          <p:cNvSpPr txBox="1"/>
          <p:nvPr/>
        </p:nvSpPr>
        <p:spPr>
          <a:xfrm>
            <a:off x="2779776" y="20116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Design</a:t>
            </a:r>
            <a:endParaRPr lang="en-US" sz="1200" dirty="0"/>
          </a:p>
        </p:txBody>
      </p:sp>
      <p:sp>
        <p:nvSpPr>
          <p:cNvPr id="14" name="arrow-56"/>
          <p:cNvSpPr/>
          <p:nvPr/>
        </p:nvSpPr>
        <p:spPr>
          <a:xfrm>
            <a:off x="3694176" y="1645920"/>
            <a:ext cx="54864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5" name="badge-57"/>
          <p:cNvSpPr/>
          <p:nvPr/>
        </p:nvSpPr>
        <p:spPr>
          <a:xfrm>
            <a:off x="4288536" y="13716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badge-text-58"/>
          <p:cNvSpPr txBox="1"/>
          <p:nvPr/>
        </p:nvSpPr>
        <p:spPr>
          <a:xfrm>
            <a:off x="4288536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7" name="phase-59"/>
          <p:cNvSpPr txBox="1"/>
          <p:nvPr/>
        </p:nvSpPr>
        <p:spPr>
          <a:xfrm>
            <a:off x="3968496" y="20116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Implementation</a:t>
            </a:r>
            <a:endParaRPr lang="en-US" sz="1200" dirty="0"/>
          </a:p>
        </p:txBody>
      </p:sp>
      <p:sp>
        <p:nvSpPr>
          <p:cNvPr id="18" name="arrow-60"/>
          <p:cNvSpPr/>
          <p:nvPr/>
        </p:nvSpPr>
        <p:spPr>
          <a:xfrm>
            <a:off x="4882896" y="1645920"/>
            <a:ext cx="54864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9" name="badge-61"/>
          <p:cNvSpPr/>
          <p:nvPr/>
        </p:nvSpPr>
        <p:spPr>
          <a:xfrm>
            <a:off x="5477256" y="13716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badge-text-62"/>
          <p:cNvSpPr txBox="1"/>
          <p:nvPr/>
        </p:nvSpPr>
        <p:spPr>
          <a:xfrm>
            <a:off x="5477256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21" name="phase-63"/>
          <p:cNvSpPr txBox="1"/>
          <p:nvPr/>
        </p:nvSpPr>
        <p:spPr>
          <a:xfrm>
            <a:off x="5157216" y="20116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Testing</a:t>
            </a:r>
            <a:endParaRPr lang="en-US" sz="1200" dirty="0"/>
          </a:p>
        </p:txBody>
      </p:sp>
      <p:sp>
        <p:nvSpPr>
          <p:cNvPr id="22" name="arrow-64"/>
          <p:cNvSpPr/>
          <p:nvPr/>
        </p:nvSpPr>
        <p:spPr>
          <a:xfrm>
            <a:off x="6071616" y="1645920"/>
            <a:ext cx="54864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3" name="badge-65"/>
          <p:cNvSpPr/>
          <p:nvPr/>
        </p:nvSpPr>
        <p:spPr>
          <a:xfrm>
            <a:off x="6665976" y="137160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4" name="badge-text-66"/>
          <p:cNvSpPr txBox="1"/>
          <p:nvPr/>
        </p:nvSpPr>
        <p:spPr>
          <a:xfrm>
            <a:off x="6665976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6</a:t>
            </a:r>
            <a:endParaRPr lang="en-US" sz="1800" dirty="0"/>
          </a:p>
        </p:txBody>
      </p:sp>
      <p:sp>
        <p:nvSpPr>
          <p:cNvPr id="25" name="phase-67"/>
          <p:cNvSpPr txBox="1"/>
          <p:nvPr/>
        </p:nvSpPr>
        <p:spPr>
          <a:xfrm>
            <a:off x="6345936" y="20116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Deployment</a:t>
            </a:r>
            <a:endParaRPr lang="en-US" sz="1200" dirty="0"/>
          </a:p>
        </p:txBody>
      </p:sp>
      <p:sp>
        <p:nvSpPr>
          <p:cNvPr id="26" name="arrow-68"/>
          <p:cNvSpPr/>
          <p:nvPr/>
        </p:nvSpPr>
        <p:spPr>
          <a:xfrm>
            <a:off x="7260336" y="1645920"/>
            <a:ext cx="54864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7" name="badge-69"/>
          <p:cNvSpPr/>
          <p:nvPr/>
        </p:nvSpPr>
        <p:spPr>
          <a:xfrm>
            <a:off x="7854696" y="137160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8" name="badge-text-70"/>
          <p:cNvSpPr txBox="1"/>
          <p:nvPr/>
        </p:nvSpPr>
        <p:spPr>
          <a:xfrm>
            <a:off x="7854696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7</a:t>
            </a:r>
            <a:endParaRPr lang="en-US" sz="1800" dirty="0"/>
          </a:p>
        </p:txBody>
      </p:sp>
      <p:sp>
        <p:nvSpPr>
          <p:cNvPr id="29" name="phase-71"/>
          <p:cNvSpPr txBox="1"/>
          <p:nvPr/>
        </p:nvSpPr>
        <p:spPr>
          <a:xfrm>
            <a:off x="7534656" y="20116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Maintenance</a:t>
            </a:r>
            <a:endParaRPr lang="en-US" sz="1200" dirty="0"/>
          </a:p>
        </p:txBody>
      </p:sp>
      <p:sp>
        <p:nvSpPr>
          <p:cNvPr id="30" name="models-h"/>
          <p:cNvSpPr txBox="1"/>
          <p:nvPr/>
        </p:nvSpPr>
        <p:spPr>
          <a:xfrm>
            <a:off x="457200" y="2743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Modeli</a:t>
            </a:r>
            <a:endParaRPr lang="en-US" sz="1600" dirty="0"/>
          </a:p>
        </p:txBody>
      </p:sp>
      <p:sp>
        <p:nvSpPr>
          <p:cNvPr id="31" name="card-72"/>
          <p:cNvSpPr/>
          <p:nvPr/>
        </p:nvSpPr>
        <p:spPr>
          <a:xfrm>
            <a:off x="457200" y="3154680"/>
            <a:ext cx="256032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model-h-73"/>
          <p:cNvSpPr txBox="1"/>
          <p:nvPr/>
        </p:nvSpPr>
        <p:spPr>
          <a:xfrm>
            <a:off x="640080" y="3291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Vodopadni</a:t>
            </a:r>
            <a:endParaRPr lang="en-US" sz="1500" dirty="0"/>
          </a:p>
        </p:txBody>
      </p:sp>
      <p:sp>
        <p:nvSpPr>
          <p:cNvPr id="33" name="model-t-74"/>
          <p:cNvSpPr txBox="1"/>
          <p:nvPr/>
        </p:nvSpPr>
        <p:spPr>
          <a:xfrm>
            <a:off x="640080" y="36576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faze jedna za drugom, bez vraćanja</a:t>
            </a:r>
            <a:endParaRPr lang="en-US" sz="1400" dirty="0"/>
          </a:p>
        </p:txBody>
      </p:sp>
      <p:sp>
        <p:nvSpPr>
          <p:cNvPr id="34" name="card-75"/>
          <p:cNvSpPr/>
          <p:nvPr/>
        </p:nvSpPr>
        <p:spPr>
          <a:xfrm>
            <a:off x="3291840" y="3154680"/>
            <a:ext cx="256032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5" name="model-h-76"/>
          <p:cNvSpPr txBox="1"/>
          <p:nvPr/>
        </p:nvSpPr>
        <p:spPr>
          <a:xfrm>
            <a:off x="3474720" y="3291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Iterativni / inkrementalni</a:t>
            </a:r>
            <a:endParaRPr lang="en-US" sz="1500" dirty="0"/>
          </a:p>
        </p:txBody>
      </p:sp>
      <p:sp>
        <p:nvSpPr>
          <p:cNvPr id="36" name="model-t-77"/>
          <p:cNvSpPr txBox="1"/>
          <p:nvPr/>
        </p:nvSpPr>
        <p:spPr>
          <a:xfrm>
            <a:off x="3474720" y="36576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ciklus se ponavlja u manjim koracima</a:t>
            </a:r>
            <a:endParaRPr lang="en-US" sz="1400" dirty="0"/>
          </a:p>
        </p:txBody>
      </p:sp>
      <p:sp>
        <p:nvSpPr>
          <p:cNvPr id="37" name="card-78"/>
          <p:cNvSpPr/>
          <p:nvPr/>
        </p:nvSpPr>
        <p:spPr>
          <a:xfrm>
            <a:off x="6126480" y="3154680"/>
            <a:ext cx="256032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8" name="model-h-79"/>
          <p:cNvSpPr txBox="1"/>
          <p:nvPr/>
        </p:nvSpPr>
        <p:spPr>
          <a:xfrm>
            <a:off x="6309360" y="3291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Agilni (Scrum)</a:t>
            </a:r>
            <a:endParaRPr lang="en-US" sz="1500" dirty="0"/>
          </a:p>
        </p:txBody>
      </p:sp>
      <p:sp>
        <p:nvSpPr>
          <p:cNvPr id="39" name="model-t-80"/>
          <p:cNvSpPr txBox="1"/>
          <p:nvPr/>
        </p:nvSpPr>
        <p:spPr>
          <a:xfrm>
            <a:off x="6309360" y="36576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kratki sprintovi, stalna povratna informacija (tema 12)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Kod "preko zida"</a:t>
            </a:r>
            <a:endParaRPr lang="en-US" sz="2800" dirty="0"/>
          </a:p>
        </p:txBody>
      </p:sp>
      <p:sp>
        <p:nvSpPr>
          <p:cNvPr id="3" name="card-81"/>
          <p:cNvSpPr/>
          <p:nvPr/>
        </p:nvSpPr>
        <p:spPr>
          <a:xfrm>
            <a:off x="457200" y="1600200"/>
            <a:ext cx="2011680" cy="1188720"/>
          </a:xfrm>
          <a:prstGeom prst="roundRect">
            <a:avLst>
              <a:gd name="adj" fmla="val 6154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dev-box"/>
          <p:cNvSpPr txBox="1"/>
          <p:nvPr/>
        </p:nvSpPr>
        <p:spPr>
          <a:xfrm>
            <a:off x="457200" y="160020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Razvoj (Dev)</a:t>
            </a:r>
            <a:endParaRPr lang="en-US" sz="1800" dirty="0"/>
          </a:p>
        </p:txBody>
      </p:sp>
      <p:sp>
        <p:nvSpPr>
          <p:cNvPr id="5" name="wall"/>
          <p:cNvSpPr/>
          <p:nvPr/>
        </p:nvSpPr>
        <p:spPr>
          <a:xfrm>
            <a:off x="3063240" y="1371600"/>
            <a:ext cx="274320" cy="164592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6" name="card-82"/>
          <p:cNvSpPr/>
          <p:nvPr/>
        </p:nvSpPr>
        <p:spPr>
          <a:xfrm>
            <a:off x="3931920" y="1600200"/>
            <a:ext cx="2011680" cy="1188720"/>
          </a:xfrm>
          <a:prstGeom prst="roundRect">
            <a:avLst>
              <a:gd name="adj" fmla="val 6154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ops-box"/>
          <p:cNvSpPr txBox="1"/>
          <p:nvPr/>
        </p:nvSpPr>
        <p:spPr>
          <a:xfrm>
            <a:off x="3931920" y="160020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Operacije (Ops)</a:t>
            </a:r>
            <a:endParaRPr lang="en-US" sz="1800" dirty="0"/>
          </a:p>
        </p:txBody>
      </p:sp>
      <p:sp>
        <p:nvSpPr>
          <p:cNvPr id="8" name="throw-arrow"/>
          <p:cNvSpPr/>
          <p:nvPr/>
        </p:nvSpPr>
        <p:spPr>
          <a:xfrm>
            <a:off x="2560320" y="1325880"/>
            <a:ext cx="128016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9" name="throw-label"/>
          <p:cNvSpPr txBox="1"/>
          <p:nvPr/>
        </p:nvSpPr>
        <p:spPr>
          <a:xfrm>
            <a:off x="2560320" y="10058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tx1"/>
                </a:solidFill>
              </a:rPr>
              <a:t>kod</a:t>
            </a:r>
            <a:endParaRPr lang="en-US" sz="1200" dirty="0"/>
          </a:p>
        </p:txBody>
      </p:sp>
      <p:sp>
        <p:nvSpPr>
          <p:cNvPr id="10" name="wall-bullets"/>
          <p:cNvSpPr txBox="1"/>
          <p:nvPr/>
        </p:nvSpPr>
        <p:spPr>
          <a:xfrm>
            <a:off x="457200" y="324612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Tradicionalno: razvoj preda kod operacijama i tu njegova uloga završava. Isporuka je bila rijetka, rizična i ručna.</a:t>
            </a:r>
            <a:endParaRPr lang="en-US" sz="1600" dirty="0"/>
          </a:p>
        </p:txBody>
      </p:sp>
      <p:sp>
        <p:nvSpPr>
          <p:cNvPr id="11" name="card-83"/>
          <p:cNvSpPr/>
          <p:nvPr/>
        </p:nvSpPr>
        <p:spPr>
          <a:xfrm>
            <a:off x="6309360" y="1097280"/>
            <a:ext cx="2377440" cy="3383280"/>
          </a:xfrm>
          <a:prstGeom prst="roundRect">
            <a:avLst>
              <a:gd name="adj" fmla="val 307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q-h"/>
          <p:cNvSpPr txBox="1"/>
          <p:nvPr/>
        </p:nvSpPr>
        <p:spPr>
          <a:xfrm>
            <a:off x="6492240" y="12801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Pitanje grupi</a:t>
            </a:r>
            <a:endParaRPr lang="en-US" sz="1400" dirty="0"/>
          </a:p>
        </p:txBody>
      </p:sp>
      <p:sp>
        <p:nvSpPr>
          <p:cNvPr id="13" name="q-t"/>
          <p:cNvSpPr txBox="1"/>
          <p:nvPr/>
        </p:nvSpPr>
        <p:spPr>
          <a:xfrm>
            <a:off x="6492240" y="1737360"/>
            <a:ext cx="2011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Koliko često Google ili Netflix isporučuju promjene u produkciju?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-84"/>
          <p:cNvSpPr/>
          <p:nvPr/>
        </p:nvSpPr>
        <p:spPr>
          <a:xfrm>
            <a:off x="548640" y="1783080"/>
            <a:ext cx="1188720" cy="11887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badge-text-85"/>
          <p:cNvSpPr txBox="1"/>
          <p:nvPr/>
        </p:nvSpPr>
        <p:spPr>
          <a:xfrm>
            <a:off x="548640" y="17830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2</a:t>
            </a:r>
            <a:endParaRPr lang="en-US" sz="4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103120" y="1737360"/>
            <a:ext cx="649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DevOps i SDLC</a:t>
            </a:r>
            <a:endParaRPr lang="en-US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103120" y="2743200"/>
            <a:ext cx="649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Kultura, prakse i alati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Što je DevOps?</a:t>
            </a:r>
            <a:endParaRPr lang="en-US" sz="2800" dirty="0"/>
          </a:p>
        </p:txBody>
      </p:sp>
      <p:sp>
        <p:nvSpPr>
          <p:cNvPr id="3" name="devops-def"/>
          <p:cNvSpPr txBox="1"/>
          <p:nvPr/>
        </p:nvSpPr>
        <p:spPr>
          <a:xfrm>
            <a:off x="457200" y="10515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DevOps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 = kultura + prakse + alati koji spajaju razvoj (Dev) i operacije (Ops)</a:t>
            </a:r>
            <a:endParaRPr lang="en-US" sz="1800" dirty="0"/>
          </a:p>
        </p:txBody>
      </p:sp>
      <p:sp>
        <p:nvSpPr>
          <p:cNvPr id="4" name="card-86"/>
          <p:cNvSpPr/>
          <p:nvPr/>
        </p:nvSpPr>
        <p:spPr>
          <a:xfrm>
            <a:off x="457200" y="1828800"/>
            <a:ext cx="1517904" cy="2560320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badge-87"/>
          <p:cNvSpPr/>
          <p:nvPr/>
        </p:nvSpPr>
        <p:spPr>
          <a:xfrm>
            <a:off x="850392" y="201168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badge-text-88"/>
          <p:cNvSpPr txBox="1"/>
          <p:nvPr/>
        </p:nvSpPr>
        <p:spPr>
          <a:xfrm>
            <a:off x="850392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C</a:t>
            </a:r>
            <a:endParaRPr lang="en-US" sz="2800" dirty="0"/>
          </a:p>
        </p:txBody>
      </p:sp>
      <p:sp>
        <p:nvSpPr>
          <p:cNvPr id="7" name="calms-h-89"/>
          <p:cNvSpPr txBox="1"/>
          <p:nvPr/>
        </p:nvSpPr>
        <p:spPr>
          <a:xfrm>
            <a:off x="548640" y="2880360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Culture</a:t>
            </a:r>
            <a:endParaRPr lang="en-US" sz="1500" dirty="0"/>
          </a:p>
        </p:txBody>
      </p:sp>
      <p:sp>
        <p:nvSpPr>
          <p:cNvPr id="8" name="calms-t-90"/>
          <p:cNvSpPr txBox="1"/>
          <p:nvPr/>
        </p:nvSpPr>
        <p:spPr>
          <a:xfrm>
            <a:off x="548640" y="3291840"/>
            <a:ext cx="1335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zajednička odgovornost</a:t>
            </a:r>
            <a:endParaRPr lang="en-US" sz="1300" dirty="0"/>
          </a:p>
        </p:txBody>
      </p:sp>
      <p:sp>
        <p:nvSpPr>
          <p:cNvPr id="9" name="card-91"/>
          <p:cNvSpPr/>
          <p:nvPr/>
        </p:nvSpPr>
        <p:spPr>
          <a:xfrm>
            <a:off x="2130552" y="1828800"/>
            <a:ext cx="1517904" cy="2560320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badge-92"/>
          <p:cNvSpPr/>
          <p:nvPr/>
        </p:nvSpPr>
        <p:spPr>
          <a:xfrm>
            <a:off x="2523744" y="201168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badge-text-93"/>
          <p:cNvSpPr txBox="1"/>
          <p:nvPr/>
        </p:nvSpPr>
        <p:spPr>
          <a:xfrm>
            <a:off x="2523744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A</a:t>
            </a:r>
            <a:endParaRPr lang="en-US" sz="2800" dirty="0"/>
          </a:p>
        </p:txBody>
      </p:sp>
      <p:sp>
        <p:nvSpPr>
          <p:cNvPr id="12" name="calms-h-94"/>
          <p:cNvSpPr txBox="1"/>
          <p:nvPr/>
        </p:nvSpPr>
        <p:spPr>
          <a:xfrm>
            <a:off x="2221992" y="2880360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Automation</a:t>
            </a:r>
            <a:endParaRPr lang="en-US" sz="1500" dirty="0"/>
          </a:p>
        </p:txBody>
      </p:sp>
      <p:sp>
        <p:nvSpPr>
          <p:cNvPr id="13" name="calms-t-95"/>
          <p:cNvSpPr txBox="1"/>
          <p:nvPr/>
        </p:nvSpPr>
        <p:spPr>
          <a:xfrm>
            <a:off x="2221992" y="3291840"/>
            <a:ext cx="1335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ponovljivo, bez ručnih koraka</a:t>
            </a:r>
            <a:endParaRPr lang="en-US" sz="1300" dirty="0"/>
          </a:p>
        </p:txBody>
      </p:sp>
      <p:sp>
        <p:nvSpPr>
          <p:cNvPr id="14" name="card-96"/>
          <p:cNvSpPr/>
          <p:nvPr/>
        </p:nvSpPr>
        <p:spPr>
          <a:xfrm>
            <a:off x="3803904" y="1828800"/>
            <a:ext cx="1517904" cy="2560320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badge-97"/>
          <p:cNvSpPr/>
          <p:nvPr/>
        </p:nvSpPr>
        <p:spPr>
          <a:xfrm>
            <a:off x="4197096" y="201168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badge-text-98"/>
          <p:cNvSpPr txBox="1"/>
          <p:nvPr/>
        </p:nvSpPr>
        <p:spPr>
          <a:xfrm>
            <a:off x="4197096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L</a:t>
            </a:r>
            <a:endParaRPr lang="en-US" sz="2800" dirty="0"/>
          </a:p>
        </p:txBody>
      </p:sp>
      <p:sp>
        <p:nvSpPr>
          <p:cNvPr id="17" name="calms-h-99"/>
          <p:cNvSpPr txBox="1"/>
          <p:nvPr/>
        </p:nvSpPr>
        <p:spPr>
          <a:xfrm>
            <a:off x="3895344" y="2880360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Lean</a:t>
            </a:r>
            <a:endParaRPr lang="en-US" sz="1500" dirty="0"/>
          </a:p>
        </p:txBody>
      </p:sp>
      <p:sp>
        <p:nvSpPr>
          <p:cNvPr id="18" name="calms-t-100"/>
          <p:cNvSpPr txBox="1"/>
          <p:nvPr/>
        </p:nvSpPr>
        <p:spPr>
          <a:xfrm>
            <a:off x="3895344" y="3291840"/>
            <a:ext cx="1335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mali koraci, manje otpada</a:t>
            </a:r>
            <a:endParaRPr lang="en-US" sz="1300" dirty="0"/>
          </a:p>
        </p:txBody>
      </p:sp>
      <p:sp>
        <p:nvSpPr>
          <p:cNvPr id="19" name="card-101"/>
          <p:cNvSpPr/>
          <p:nvPr/>
        </p:nvSpPr>
        <p:spPr>
          <a:xfrm>
            <a:off x="5477256" y="1828800"/>
            <a:ext cx="1517904" cy="2560320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badge-102"/>
          <p:cNvSpPr/>
          <p:nvPr/>
        </p:nvSpPr>
        <p:spPr>
          <a:xfrm>
            <a:off x="5870448" y="201168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badge-text-103"/>
          <p:cNvSpPr txBox="1"/>
          <p:nvPr/>
        </p:nvSpPr>
        <p:spPr>
          <a:xfrm>
            <a:off x="5870448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M</a:t>
            </a:r>
            <a:endParaRPr lang="en-US" sz="2800" dirty="0"/>
          </a:p>
        </p:txBody>
      </p:sp>
      <p:sp>
        <p:nvSpPr>
          <p:cNvPr id="22" name="calms-h-104"/>
          <p:cNvSpPr txBox="1"/>
          <p:nvPr/>
        </p:nvSpPr>
        <p:spPr>
          <a:xfrm>
            <a:off x="5568696" y="2880360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Measurement</a:t>
            </a:r>
            <a:endParaRPr lang="en-US" sz="1500" dirty="0"/>
          </a:p>
        </p:txBody>
      </p:sp>
      <p:sp>
        <p:nvSpPr>
          <p:cNvPr id="23" name="calms-t-105"/>
          <p:cNvSpPr txBox="1"/>
          <p:nvPr/>
        </p:nvSpPr>
        <p:spPr>
          <a:xfrm>
            <a:off x="5568696" y="3291840"/>
            <a:ext cx="1335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odluke na temelju podataka</a:t>
            </a:r>
            <a:endParaRPr lang="en-US" sz="1300" dirty="0"/>
          </a:p>
        </p:txBody>
      </p:sp>
      <p:sp>
        <p:nvSpPr>
          <p:cNvPr id="24" name="card-106"/>
          <p:cNvSpPr/>
          <p:nvPr/>
        </p:nvSpPr>
        <p:spPr>
          <a:xfrm>
            <a:off x="7150608" y="1828800"/>
            <a:ext cx="1517904" cy="2560320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badge-107"/>
          <p:cNvSpPr/>
          <p:nvPr/>
        </p:nvSpPr>
        <p:spPr>
          <a:xfrm>
            <a:off x="7543800" y="201168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badge-text-108"/>
          <p:cNvSpPr txBox="1"/>
          <p:nvPr/>
        </p:nvSpPr>
        <p:spPr>
          <a:xfrm>
            <a:off x="7543800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S</a:t>
            </a:r>
            <a:endParaRPr lang="en-US" sz="2800" dirty="0"/>
          </a:p>
        </p:txBody>
      </p:sp>
      <p:sp>
        <p:nvSpPr>
          <p:cNvPr id="27" name="calms-h-109"/>
          <p:cNvSpPr txBox="1"/>
          <p:nvPr/>
        </p:nvSpPr>
        <p:spPr>
          <a:xfrm>
            <a:off x="7242048" y="2880360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Sharing</a:t>
            </a:r>
            <a:endParaRPr lang="en-US" sz="1500" dirty="0"/>
          </a:p>
        </p:txBody>
      </p:sp>
      <p:sp>
        <p:nvSpPr>
          <p:cNvPr id="28" name="calms-t-110"/>
          <p:cNvSpPr txBox="1"/>
          <p:nvPr/>
        </p:nvSpPr>
        <p:spPr>
          <a:xfrm>
            <a:off x="7242048" y="3291840"/>
            <a:ext cx="1335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znanje i alati su zajednički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Beskonačna petlja i faze SDLC-a</a:t>
            </a:r>
            <a:endParaRPr lang="en-US" sz="2800" dirty="0"/>
          </a:p>
        </p:txBody>
      </p:sp>
      <p:pic>
        <p:nvPicPr>
          <p:cNvPr id="3" name="devops-loop" descr="DevOps beskonačna petlja: plan, code, build, test, release, deploy, operate, monit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114800" cy="2116550"/>
          </a:xfrm>
          <a:prstGeom prst="rect">
            <a:avLst/>
          </a:prstGeom>
        </p:spPr>
      </p:pic>
      <p:sp>
        <p:nvSpPr>
          <p:cNvPr id="4" name="map-h1"/>
          <p:cNvSpPr txBox="1"/>
          <p:nvPr/>
        </p:nvSpPr>
        <p:spPr>
          <a:xfrm>
            <a:off x="4846320" y="1051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Faza SDLC-a</a:t>
            </a:r>
            <a:endParaRPr lang="en-US" sz="1200" dirty="0"/>
          </a:p>
        </p:txBody>
      </p:sp>
      <p:sp>
        <p:nvSpPr>
          <p:cNvPr id="5" name="map-h2"/>
          <p:cNvSpPr txBox="1"/>
          <p:nvPr/>
        </p:nvSpPr>
        <p:spPr>
          <a:xfrm>
            <a:off x="6720840" y="10515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Korak DevOps petlje</a:t>
            </a:r>
            <a:endParaRPr lang="en-US" sz="1200" dirty="0"/>
          </a:p>
        </p:txBody>
      </p:sp>
      <p:sp>
        <p:nvSpPr>
          <p:cNvPr id="6" name="card-111"/>
          <p:cNvSpPr/>
          <p:nvPr/>
        </p:nvSpPr>
        <p:spPr>
          <a:xfrm>
            <a:off x="4754880" y="1371600"/>
            <a:ext cx="3931920" cy="402336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map-a-112"/>
          <p:cNvSpPr txBox="1"/>
          <p:nvPr/>
        </p:nvSpPr>
        <p:spPr>
          <a:xfrm>
            <a:off x="4846320" y="137160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Implementation</a:t>
            </a:r>
            <a:endParaRPr lang="en-US" sz="1400" dirty="0"/>
          </a:p>
        </p:txBody>
      </p:sp>
      <p:sp>
        <p:nvSpPr>
          <p:cNvPr id="8" name="map-b-113"/>
          <p:cNvSpPr txBox="1"/>
          <p:nvPr/>
        </p:nvSpPr>
        <p:spPr>
          <a:xfrm>
            <a:off x="6720840" y="137160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→  Code, Build</a:t>
            </a:r>
            <a:endParaRPr lang="en-US" sz="1400" dirty="0"/>
          </a:p>
        </p:txBody>
      </p:sp>
      <p:sp>
        <p:nvSpPr>
          <p:cNvPr id="9" name="card-114"/>
          <p:cNvSpPr/>
          <p:nvPr/>
        </p:nvSpPr>
        <p:spPr>
          <a:xfrm>
            <a:off x="4754880" y="1847088"/>
            <a:ext cx="3931920" cy="402336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map-a-115"/>
          <p:cNvSpPr txBox="1"/>
          <p:nvPr/>
        </p:nvSpPr>
        <p:spPr>
          <a:xfrm>
            <a:off x="4846320" y="184708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Testing</a:t>
            </a:r>
            <a:endParaRPr lang="en-US" sz="1400" dirty="0"/>
          </a:p>
        </p:txBody>
      </p:sp>
      <p:sp>
        <p:nvSpPr>
          <p:cNvPr id="11" name="map-b-116"/>
          <p:cNvSpPr txBox="1"/>
          <p:nvPr/>
        </p:nvSpPr>
        <p:spPr>
          <a:xfrm>
            <a:off x="6720840" y="184708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→  Test</a:t>
            </a:r>
            <a:endParaRPr lang="en-US" sz="1400" dirty="0"/>
          </a:p>
        </p:txBody>
      </p:sp>
      <p:sp>
        <p:nvSpPr>
          <p:cNvPr id="12" name="card-117"/>
          <p:cNvSpPr/>
          <p:nvPr/>
        </p:nvSpPr>
        <p:spPr>
          <a:xfrm>
            <a:off x="4754880" y="2322576"/>
            <a:ext cx="3931920" cy="402336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map-a-118"/>
          <p:cNvSpPr txBox="1"/>
          <p:nvPr/>
        </p:nvSpPr>
        <p:spPr>
          <a:xfrm>
            <a:off x="4846320" y="2322576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Deployment</a:t>
            </a:r>
            <a:endParaRPr lang="en-US" sz="1400" dirty="0"/>
          </a:p>
        </p:txBody>
      </p:sp>
      <p:sp>
        <p:nvSpPr>
          <p:cNvPr id="14" name="map-b-119"/>
          <p:cNvSpPr txBox="1"/>
          <p:nvPr/>
        </p:nvSpPr>
        <p:spPr>
          <a:xfrm>
            <a:off x="6720840" y="2322576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→  Release, Deploy</a:t>
            </a:r>
            <a:endParaRPr lang="en-US" sz="1400" dirty="0"/>
          </a:p>
        </p:txBody>
      </p:sp>
      <p:sp>
        <p:nvSpPr>
          <p:cNvPr id="15" name="card-120"/>
          <p:cNvSpPr/>
          <p:nvPr/>
        </p:nvSpPr>
        <p:spPr>
          <a:xfrm>
            <a:off x="4754880" y="2798064"/>
            <a:ext cx="3931920" cy="402336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map-a-121"/>
          <p:cNvSpPr txBox="1"/>
          <p:nvPr/>
        </p:nvSpPr>
        <p:spPr>
          <a:xfrm>
            <a:off x="4846320" y="2798064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Maintenance</a:t>
            </a:r>
            <a:endParaRPr lang="en-US" sz="1400" dirty="0"/>
          </a:p>
        </p:txBody>
      </p:sp>
      <p:sp>
        <p:nvSpPr>
          <p:cNvPr id="17" name="map-b-122"/>
          <p:cNvSpPr txBox="1"/>
          <p:nvPr/>
        </p:nvSpPr>
        <p:spPr>
          <a:xfrm>
            <a:off x="6720840" y="279806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→  Operate, Monitor</a:t>
            </a:r>
            <a:endParaRPr lang="en-US" sz="1400" dirty="0"/>
          </a:p>
        </p:txBody>
      </p:sp>
      <p:sp>
        <p:nvSpPr>
          <p:cNvPr id="18" name="card-123"/>
          <p:cNvSpPr/>
          <p:nvPr/>
        </p:nvSpPr>
        <p:spPr>
          <a:xfrm>
            <a:off x="457200" y="3474720"/>
            <a:ext cx="8229600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9" name="what"/>
          <p:cNvSpPr txBox="1"/>
          <p:nvPr/>
        </p:nvSpPr>
        <p:spPr>
          <a:xfrm>
            <a:off x="685800" y="347472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SDLC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opisuje što se radi.</a:t>
            </a:r>
            <a:endParaRPr lang="en-US" sz="1500" dirty="0"/>
          </a:p>
        </p:txBody>
      </p:sp>
      <p:sp>
        <p:nvSpPr>
          <p:cNvPr id="20" name="how"/>
          <p:cNvSpPr txBox="1"/>
          <p:nvPr/>
        </p:nvSpPr>
        <p:spPr>
          <a:xfrm>
            <a:off x="3566160" y="347472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DevOps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opisuje kako: brzo, često, automatizirano, uz povratnu informaciju iz produkcije.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DevSecOps i put kroz kolegij</a:t>
            </a:r>
            <a:endParaRPr lang="en-US" sz="2800" dirty="0"/>
          </a:p>
        </p:txBody>
      </p:sp>
      <p:sp>
        <p:nvSpPr>
          <p:cNvPr id="3" name="card-124"/>
          <p:cNvSpPr/>
          <p:nvPr/>
        </p:nvSpPr>
        <p:spPr>
          <a:xfrm>
            <a:off x="457200" y="1097280"/>
            <a:ext cx="3840480" cy="3383280"/>
          </a:xfrm>
          <a:prstGeom prst="roundRect">
            <a:avLst>
              <a:gd name="adj" fmla="val 216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shift-h"/>
          <p:cNvSpPr txBox="1"/>
          <p:nvPr/>
        </p:nvSpPr>
        <p:spPr>
          <a:xfrm>
            <a:off x="685800" y="12801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Shift left</a:t>
            </a:r>
            <a:endParaRPr lang="en-US" sz="2200" dirty="0"/>
          </a:p>
        </p:txBody>
      </p:sp>
      <p:sp>
        <p:nvSpPr>
          <p:cNvPr id="5" name="shift-t"/>
          <p:cNvSpPr txBox="1"/>
          <p:nvPr/>
        </p:nvSpPr>
        <p:spPr>
          <a:xfrm>
            <a:off x="685800" y="182880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Sigurnost se pomiče "lijevo" u petlji: provjere u kodu i CI-u, a ne tek pred produkciju.</a:t>
            </a:r>
            <a:endParaRPr lang="en-US" sz="1600" dirty="0"/>
          </a:p>
        </p:txBody>
      </p:sp>
      <p:sp>
        <p:nvSpPr>
          <p:cNvPr id="6" name="shift-arrow"/>
          <p:cNvSpPr/>
          <p:nvPr/>
        </p:nvSpPr>
        <p:spPr>
          <a:xfrm>
            <a:off x="731520" y="3931920"/>
            <a:ext cx="3108960" cy="0"/>
          </a:xfrm>
          <a:prstGeom prst="line">
            <a:avLst/>
          </a:prstGeom>
          <a:noFill/>
          <a:ln w="38100">
            <a:solidFill>
              <a:schemeClr val="accent3"/>
            </a:solidFill>
            <a:prstDash val="solid"/>
            <a:headEnd type="triangle"/>
          </a:ln>
        </p:spPr>
      </p:sp>
      <p:sp>
        <p:nvSpPr>
          <p:cNvPr id="7" name="course-h"/>
          <p:cNvSpPr txBox="1"/>
          <p:nvPr/>
        </p:nvSpPr>
        <p:spPr>
          <a:xfrm>
            <a:off x="4572000" y="1097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Teme kolegija prate petlju</a:t>
            </a:r>
            <a:endParaRPr lang="en-US" sz="1600" dirty="0"/>
          </a:p>
        </p:txBody>
      </p:sp>
      <p:sp>
        <p:nvSpPr>
          <p:cNvPr id="8" name="course-pill-125"/>
          <p:cNvSpPr/>
          <p:nvPr/>
        </p:nvSpPr>
        <p:spPr>
          <a:xfrm>
            <a:off x="4572000" y="1554480"/>
            <a:ext cx="105156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9" name="course-pill-t-126"/>
          <p:cNvSpPr txBox="1"/>
          <p:nvPr/>
        </p:nvSpPr>
        <p:spPr>
          <a:xfrm>
            <a:off x="4572000" y="155448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Code</a:t>
            </a:r>
            <a:endParaRPr lang="en-US" sz="1200" dirty="0"/>
          </a:p>
        </p:txBody>
      </p:sp>
      <p:sp>
        <p:nvSpPr>
          <p:cNvPr id="10" name="course-t-127"/>
          <p:cNvSpPr txBox="1"/>
          <p:nvPr/>
        </p:nvSpPr>
        <p:spPr>
          <a:xfrm>
            <a:off x="5760720" y="155448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Tema 2–3 git, grananje</a:t>
            </a:r>
            <a:endParaRPr lang="en-US" sz="1400" dirty="0"/>
          </a:p>
        </p:txBody>
      </p:sp>
      <p:sp>
        <p:nvSpPr>
          <p:cNvPr id="11" name="course-pill-128"/>
          <p:cNvSpPr/>
          <p:nvPr/>
        </p:nvSpPr>
        <p:spPr>
          <a:xfrm>
            <a:off x="4572000" y="2039112"/>
            <a:ext cx="1051560" cy="3840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12" name="course-pill-t-129"/>
          <p:cNvSpPr txBox="1"/>
          <p:nvPr/>
        </p:nvSpPr>
        <p:spPr>
          <a:xfrm>
            <a:off x="4572000" y="2039112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Build</a:t>
            </a:r>
            <a:endParaRPr lang="en-US" sz="1200" dirty="0"/>
          </a:p>
        </p:txBody>
      </p:sp>
      <p:sp>
        <p:nvSpPr>
          <p:cNvPr id="13" name="course-t-130"/>
          <p:cNvSpPr txBox="1"/>
          <p:nvPr/>
        </p:nvSpPr>
        <p:spPr>
          <a:xfrm>
            <a:off x="5760720" y="203911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Tema 4 Docker</a:t>
            </a:r>
            <a:endParaRPr lang="en-US" sz="1400" dirty="0"/>
          </a:p>
        </p:txBody>
      </p:sp>
      <p:sp>
        <p:nvSpPr>
          <p:cNvPr id="14" name="course-pill-131"/>
          <p:cNvSpPr/>
          <p:nvPr/>
        </p:nvSpPr>
        <p:spPr>
          <a:xfrm>
            <a:off x="4572000" y="2523744"/>
            <a:ext cx="105156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5" name="course-pill-t-132"/>
          <p:cNvSpPr txBox="1"/>
          <p:nvPr/>
        </p:nvSpPr>
        <p:spPr>
          <a:xfrm>
            <a:off x="4572000" y="2523744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Test</a:t>
            </a:r>
            <a:endParaRPr lang="en-US" sz="1200" dirty="0"/>
          </a:p>
        </p:txBody>
      </p:sp>
      <p:sp>
        <p:nvSpPr>
          <p:cNvPr id="16" name="course-t-133"/>
          <p:cNvSpPr txBox="1"/>
          <p:nvPr/>
        </p:nvSpPr>
        <p:spPr>
          <a:xfrm>
            <a:off x="5760720" y="252374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Tema 5 testiranje</a:t>
            </a:r>
            <a:endParaRPr lang="en-US" sz="1400" dirty="0"/>
          </a:p>
        </p:txBody>
      </p:sp>
      <p:sp>
        <p:nvSpPr>
          <p:cNvPr id="17" name="course-pill-134"/>
          <p:cNvSpPr/>
          <p:nvPr/>
        </p:nvSpPr>
        <p:spPr>
          <a:xfrm>
            <a:off x="4572000" y="3008376"/>
            <a:ext cx="1051560" cy="3840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18" name="course-pill-t-135"/>
          <p:cNvSpPr txBox="1"/>
          <p:nvPr/>
        </p:nvSpPr>
        <p:spPr>
          <a:xfrm>
            <a:off x="4572000" y="3008376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Deploy</a:t>
            </a:r>
            <a:endParaRPr lang="en-US" sz="1200" dirty="0"/>
          </a:p>
        </p:txBody>
      </p:sp>
      <p:sp>
        <p:nvSpPr>
          <p:cNvPr id="19" name="course-t-136"/>
          <p:cNvSpPr txBox="1"/>
          <p:nvPr/>
        </p:nvSpPr>
        <p:spPr>
          <a:xfrm>
            <a:off x="5760720" y="300837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Tema 6–8 hardver, troškovi, IaC</a:t>
            </a:r>
            <a:endParaRPr lang="en-US" sz="1400" dirty="0"/>
          </a:p>
        </p:txBody>
      </p:sp>
      <p:sp>
        <p:nvSpPr>
          <p:cNvPr id="20" name="course-pill-137"/>
          <p:cNvSpPr/>
          <p:nvPr/>
        </p:nvSpPr>
        <p:spPr>
          <a:xfrm>
            <a:off x="4572000" y="3493008"/>
            <a:ext cx="105156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1" name="course-pill-t-138"/>
          <p:cNvSpPr txBox="1"/>
          <p:nvPr/>
        </p:nvSpPr>
        <p:spPr>
          <a:xfrm>
            <a:off x="4572000" y="3493008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Release</a:t>
            </a:r>
            <a:endParaRPr lang="en-US" sz="1200" dirty="0"/>
          </a:p>
        </p:txBody>
      </p:sp>
      <p:sp>
        <p:nvSpPr>
          <p:cNvPr id="22" name="course-t-139"/>
          <p:cNvSpPr txBox="1"/>
          <p:nvPr/>
        </p:nvSpPr>
        <p:spPr>
          <a:xfrm>
            <a:off x="5760720" y="349300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Tema 9–10 CI/CD, verzije</a:t>
            </a:r>
            <a:endParaRPr lang="en-US" sz="1400" dirty="0"/>
          </a:p>
        </p:txBody>
      </p:sp>
      <p:sp>
        <p:nvSpPr>
          <p:cNvPr id="23" name="course-pill-140"/>
          <p:cNvSpPr/>
          <p:nvPr/>
        </p:nvSpPr>
        <p:spPr>
          <a:xfrm>
            <a:off x="4572000" y="3977640"/>
            <a:ext cx="1051560" cy="3840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24" name="course-pill-t-141"/>
          <p:cNvSpPr txBox="1"/>
          <p:nvPr/>
        </p:nvSpPr>
        <p:spPr>
          <a:xfrm>
            <a:off x="4572000" y="397764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Plan</a:t>
            </a:r>
            <a:endParaRPr lang="en-US" sz="1200" dirty="0"/>
          </a:p>
        </p:txBody>
      </p:sp>
      <p:sp>
        <p:nvSpPr>
          <p:cNvPr id="25" name="course-t-142"/>
          <p:cNvSpPr txBox="1"/>
          <p:nvPr/>
        </p:nvSpPr>
        <p:spPr>
          <a:xfrm>
            <a:off x="5760720" y="397764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Tema 11–12 okruženja, Scrum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-143"/>
          <p:cNvSpPr/>
          <p:nvPr/>
        </p:nvSpPr>
        <p:spPr>
          <a:xfrm>
            <a:off x="548640" y="1783080"/>
            <a:ext cx="1188720" cy="11887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badge-text-144"/>
          <p:cNvSpPr txBox="1"/>
          <p:nvPr/>
        </p:nvSpPr>
        <p:spPr>
          <a:xfrm>
            <a:off x="548640" y="17830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3</a:t>
            </a:r>
            <a:endParaRPr lang="en-US" sz="4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103120" y="1737360"/>
            <a:ext cx="649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CI workflowi</a:t>
            </a:r>
            <a:endParaRPr lang="en-US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103120" y="2743200"/>
            <a:ext cx="649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Kontinuirana integracija i živi prikaz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Integracija, isporuka, implementacija</a:t>
            </a:r>
            <a:endParaRPr lang="en-US" sz="2800" dirty="0"/>
          </a:p>
        </p:txBody>
      </p:sp>
      <p:sp>
        <p:nvSpPr>
          <p:cNvPr id="3" name="card-145"/>
          <p:cNvSpPr/>
          <p:nvPr/>
        </p:nvSpPr>
        <p:spPr>
          <a:xfrm>
            <a:off x="457200" y="1188720"/>
            <a:ext cx="256032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i-h-146"/>
          <p:cNvSpPr txBox="1"/>
          <p:nvPr/>
        </p:nvSpPr>
        <p:spPr>
          <a:xfrm>
            <a:off x="640080" y="13258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Continuous Integration</a:t>
            </a:r>
            <a:endParaRPr lang="en-US" sz="1600" dirty="0"/>
          </a:p>
        </p:txBody>
      </p:sp>
      <p:sp>
        <p:nvSpPr>
          <p:cNvPr id="5" name="ci-t-147"/>
          <p:cNvSpPr txBox="1"/>
          <p:nvPr/>
        </p:nvSpPr>
        <p:spPr>
          <a:xfrm>
            <a:off x="640080" y="196596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Svaki push se automatski gradi i testira. Problemi se otkrivaju u minutama, ne tjednima.</a:t>
            </a:r>
            <a:endParaRPr lang="en-US" sz="1400" dirty="0"/>
          </a:p>
        </p:txBody>
      </p:sp>
      <p:sp>
        <p:nvSpPr>
          <p:cNvPr id="6" name="ci-arrow-148"/>
          <p:cNvSpPr/>
          <p:nvPr/>
        </p:nvSpPr>
        <p:spPr>
          <a:xfrm>
            <a:off x="3044952" y="2240280"/>
            <a:ext cx="219456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7" name="card-149"/>
          <p:cNvSpPr/>
          <p:nvPr/>
        </p:nvSpPr>
        <p:spPr>
          <a:xfrm>
            <a:off x="3291840" y="1188720"/>
            <a:ext cx="256032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ci-h-150"/>
          <p:cNvSpPr txBox="1"/>
          <p:nvPr/>
        </p:nvSpPr>
        <p:spPr>
          <a:xfrm>
            <a:off x="3474720" y="13258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Continuous Delivery</a:t>
            </a:r>
            <a:endParaRPr lang="en-US" sz="1600" dirty="0"/>
          </a:p>
        </p:txBody>
      </p:sp>
      <p:sp>
        <p:nvSpPr>
          <p:cNvPr id="9" name="ci-t-151"/>
          <p:cNvSpPr txBox="1"/>
          <p:nvPr/>
        </p:nvSpPr>
        <p:spPr>
          <a:xfrm>
            <a:off x="3474720" y="196596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Kod je uvijek spreman za isporuku. U produkciju ide ručnim gumbom.</a:t>
            </a:r>
            <a:endParaRPr lang="en-US" sz="1400" dirty="0"/>
          </a:p>
        </p:txBody>
      </p:sp>
      <p:sp>
        <p:nvSpPr>
          <p:cNvPr id="10" name="ci-arrow-152"/>
          <p:cNvSpPr/>
          <p:nvPr/>
        </p:nvSpPr>
        <p:spPr>
          <a:xfrm>
            <a:off x="5879592" y="2240280"/>
            <a:ext cx="219456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1" name="card-153"/>
          <p:cNvSpPr/>
          <p:nvPr/>
        </p:nvSpPr>
        <p:spPr>
          <a:xfrm>
            <a:off x="6126480" y="1188720"/>
            <a:ext cx="256032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ci-h-154"/>
          <p:cNvSpPr txBox="1"/>
          <p:nvPr/>
        </p:nvSpPr>
        <p:spPr>
          <a:xfrm>
            <a:off x="6309360" y="13258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Continuous Deployment</a:t>
            </a:r>
            <a:endParaRPr lang="en-US" sz="1600" dirty="0"/>
          </a:p>
        </p:txBody>
      </p:sp>
      <p:sp>
        <p:nvSpPr>
          <p:cNvPr id="13" name="ci-t-155"/>
          <p:cNvSpPr txBox="1"/>
          <p:nvPr/>
        </p:nvSpPr>
        <p:spPr>
          <a:xfrm>
            <a:off x="6309360" y="196596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Svaka uspješna promjena automatski odlazi u produkciju.</a:t>
            </a:r>
            <a:endParaRPr lang="en-US" sz="1400" dirty="0"/>
          </a:p>
        </p:txBody>
      </p:sp>
      <p:sp>
        <p:nvSpPr>
          <p:cNvPr id="14" name="terms-h"/>
          <p:cNvSpPr txBox="1"/>
          <p:nvPr/>
        </p:nvSpPr>
        <p:spPr>
          <a:xfrm>
            <a:off x="457200" y="3520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Pojmovi</a:t>
            </a:r>
            <a:endParaRPr lang="en-US" sz="1600" dirty="0"/>
          </a:p>
        </p:txBody>
      </p:sp>
      <p:sp>
        <p:nvSpPr>
          <p:cNvPr id="15" name="term-156"/>
          <p:cNvSpPr/>
          <p:nvPr/>
        </p:nvSpPr>
        <p:spPr>
          <a:xfrm>
            <a:off x="457200" y="3931920"/>
            <a:ext cx="992124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rm-t-157"/>
          <p:cNvSpPr txBox="1"/>
          <p:nvPr/>
        </p:nvSpPr>
        <p:spPr>
          <a:xfrm>
            <a:off x="457200" y="3931920"/>
            <a:ext cx="9921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trigger</a:t>
            </a:r>
            <a:endParaRPr lang="en-US" sz="1300" dirty="0"/>
          </a:p>
        </p:txBody>
      </p:sp>
      <p:sp>
        <p:nvSpPr>
          <p:cNvPr id="17" name="term-158"/>
          <p:cNvSpPr/>
          <p:nvPr/>
        </p:nvSpPr>
        <p:spPr>
          <a:xfrm>
            <a:off x="1586484" y="3931920"/>
            <a:ext cx="896112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rm-t-159"/>
          <p:cNvSpPr txBox="1"/>
          <p:nvPr/>
        </p:nvSpPr>
        <p:spPr>
          <a:xfrm>
            <a:off x="1586484" y="3931920"/>
            <a:ext cx="896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runner</a:t>
            </a:r>
            <a:endParaRPr lang="en-US" sz="1300" dirty="0"/>
          </a:p>
        </p:txBody>
      </p:sp>
      <p:sp>
        <p:nvSpPr>
          <p:cNvPr id="19" name="term-160"/>
          <p:cNvSpPr/>
          <p:nvPr/>
        </p:nvSpPr>
        <p:spPr>
          <a:xfrm>
            <a:off x="2619756" y="3931920"/>
            <a:ext cx="608076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rm-t-161"/>
          <p:cNvSpPr txBox="1"/>
          <p:nvPr/>
        </p:nvSpPr>
        <p:spPr>
          <a:xfrm>
            <a:off x="2619756" y="3931920"/>
            <a:ext cx="6080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job</a:t>
            </a:r>
            <a:endParaRPr lang="en-US" sz="1300" dirty="0"/>
          </a:p>
        </p:txBody>
      </p:sp>
      <p:sp>
        <p:nvSpPr>
          <p:cNvPr id="21" name="term-162"/>
          <p:cNvSpPr/>
          <p:nvPr/>
        </p:nvSpPr>
        <p:spPr>
          <a:xfrm>
            <a:off x="3364992" y="3931920"/>
            <a:ext cx="704088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rm-t-163"/>
          <p:cNvSpPr txBox="1"/>
          <p:nvPr/>
        </p:nvSpPr>
        <p:spPr>
          <a:xfrm>
            <a:off x="3364992" y="3931920"/>
            <a:ext cx="704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step</a:t>
            </a:r>
            <a:endParaRPr lang="en-US" sz="1300" dirty="0"/>
          </a:p>
        </p:txBody>
      </p:sp>
      <p:sp>
        <p:nvSpPr>
          <p:cNvPr id="23" name="term-164"/>
          <p:cNvSpPr/>
          <p:nvPr/>
        </p:nvSpPr>
        <p:spPr>
          <a:xfrm>
            <a:off x="4206240" y="3931920"/>
            <a:ext cx="1088136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rm-t-165"/>
          <p:cNvSpPr txBox="1"/>
          <p:nvPr/>
        </p:nvSpPr>
        <p:spPr>
          <a:xfrm>
            <a:off x="4206240" y="3931920"/>
            <a:ext cx="1088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artefakt</a:t>
            </a:r>
            <a:endParaRPr lang="en-US" sz="1300" dirty="0"/>
          </a:p>
        </p:txBody>
      </p:sp>
      <p:sp>
        <p:nvSpPr>
          <p:cNvPr id="25" name="term-166"/>
          <p:cNvSpPr/>
          <p:nvPr/>
        </p:nvSpPr>
        <p:spPr>
          <a:xfrm>
            <a:off x="5431536" y="3931920"/>
            <a:ext cx="2528316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term-t-167"/>
          <p:cNvSpPr txBox="1"/>
          <p:nvPr/>
        </p:nvSpPr>
        <p:spPr>
          <a:xfrm>
            <a:off x="5431536" y="3931920"/>
            <a:ext cx="25283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status provjere na PR-u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Primjer: release_please.yml</a:t>
            </a:r>
            <a:endParaRPr lang="en-US" sz="2800" dirty="0"/>
          </a:p>
        </p:txBody>
      </p:sp>
      <p:sp>
        <p:nvSpPr>
          <p:cNvPr id="3" name="code-bg-168"/>
          <p:cNvSpPr/>
          <p:nvPr/>
        </p:nvSpPr>
        <p:spPr>
          <a:xfrm>
            <a:off x="457200" y="1005840"/>
            <a:ext cx="4937760" cy="3611880"/>
          </a:xfrm>
          <a:prstGeom prst="roundRect">
            <a:avLst>
              <a:gd name="adj" fmla="val 151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code-169"/>
          <p:cNvSpPr txBox="1"/>
          <p:nvPr/>
        </p:nvSpPr>
        <p:spPr>
          <a:xfrm>
            <a:off x="594360" y="1097280"/>
            <a:ext cx="466344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release-please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push: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branches: [main]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permissions: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contents: write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pull-requests: write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release-please: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runs-on: ubuntu-latest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steps: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name: Dump GitHub context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env: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GITHUB_CONTEXT: ${{ toJson(github) }}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run: echo "$GITHUB_CONTEXT"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name: Release Please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uses: googleapis/release-please-action@v4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with: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release-type: simple</a:t>
            </a:r>
            <a:endParaRPr lang="en-US" sz="900" dirty="0"/>
          </a:p>
        </p:txBody>
      </p:sp>
      <p:sp>
        <p:nvSpPr>
          <p:cNvPr id="5" name="card-170"/>
          <p:cNvSpPr/>
          <p:nvPr/>
        </p:nvSpPr>
        <p:spPr>
          <a:xfrm>
            <a:off x="5669280" y="1005840"/>
            <a:ext cx="301752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yaml-h-171"/>
          <p:cNvSpPr txBox="1"/>
          <p:nvPr/>
        </p:nvSpPr>
        <p:spPr>
          <a:xfrm>
            <a:off x="5852160" y="10789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Trigger</a:t>
            </a:r>
            <a:endParaRPr lang="en-US" sz="1500" dirty="0"/>
          </a:p>
        </p:txBody>
      </p:sp>
      <p:sp>
        <p:nvSpPr>
          <p:cNvPr id="7" name="yaml-t-172"/>
          <p:cNvSpPr txBox="1"/>
          <p:nvPr/>
        </p:nvSpPr>
        <p:spPr>
          <a:xfrm>
            <a:off x="5852160" y="13990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push na main</a:t>
            </a:r>
            <a:endParaRPr lang="en-US" sz="1300" dirty="0"/>
          </a:p>
        </p:txBody>
      </p:sp>
      <p:sp>
        <p:nvSpPr>
          <p:cNvPr id="8" name="card-173"/>
          <p:cNvSpPr/>
          <p:nvPr/>
        </p:nvSpPr>
        <p:spPr>
          <a:xfrm>
            <a:off x="5669280" y="1920240"/>
            <a:ext cx="301752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yaml-h-174"/>
          <p:cNvSpPr txBox="1"/>
          <p:nvPr/>
        </p:nvSpPr>
        <p:spPr>
          <a:xfrm>
            <a:off x="5852160" y="19933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Runner</a:t>
            </a:r>
            <a:endParaRPr lang="en-US" sz="1500" dirty="0"/>
          </a:p>
        </p:txBody>
      </p:sp>
      <p:sp>
        <p:nvSpPr>
          <p:cNvPr id="10" name="yaml-t-175"/>
          <p:cNvSpPr txBox="1"/>
          <p:nvPr/>
        </p:nvSpPr>
        <p:spPr>
          <a:xfrm>
            <a:off x="5852160" y="23134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ubuntu-latest</a:t>
            </a:r>
            <a:endParaRPr lang="en-US" sz="1300" dirty="0"/>
          </a:p>
        </p:txBody>
      </p:sp>
      <p:sp>
        <p:nvSpPr>
          <p:cNvPr id="11" name="card-176"/>
          <p:cNvSpPr/>
          <p:nvPr/>
        </p:nvSpPr>
        <p:spPr>
          <a:xfrm>
            <a:off x="5669280" y="2834640"/>
            <a:ext cx="301752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yaml-h-177"/>
          <p:cNvSpPr txBox="1"/>
          <p:nvPr/>
        </p:nvSpPr>
        <p:spPr>
          <a:xfrm>
            <a:off x="5852160" y="29077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Steps</a:t>
            </a:r>
            <a:endParaRPr lang="en-US" sz="1500" dirty="0"/>
          </a:p>
        </p:txBody>
      </p:sp>
      <p:sp>
        <p:nvSpPr>
          <p:cNvPr id="13" name="yaml-t-178"/>
          <p:cNvSpPr txBox="1"/>
          <p:nvPr/>
        </p:nvSpPr>
        <p:spPr>
          <a:xfrm>
            <a:off x="5852160" y="32278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1 ispis konteksta, 2 release-please</a:t>
            </a:r>
            <a:endParaRPr lang="en-US" sz="1300" dirty="0"/>
          </a:p>
        </p:txBody>
      </p:sp>
      <p:sp>
        <p:nvSpPr>
          <p:cNvPr id="14" name="card-179"/>
          <p:cNvSpPr/>
          <p:nvPr/>
        </p:nvSpPr>
        <p:spPr>
          <a:xfrm>
            <a:off x="5669280" y="3749040"/>
            <a:ext cx="301752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yaml-h-180"/>
          <p:cNvSpPr txBox="1"/>
          <p:nvPr/>
        </p:nvSpPr>
        <p:spPr>
          <a:xfrm>
            <a:off x="5852160" y="38221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Permissions</a:t>
            </a:r>
            <a:endParaRPr lang="en-US" sz="1500" dirty="0"/>
          </a:p>
        </p:txBody>
      </p:sp>
      <p:sp>
        <p:nvSpPr>
          <p:cNvPr id="16" name="yaml-t-181"/>
          <p:cNvSpPr txBox="1"/>
          <p:nvPr/>
        </p:nvSpPr>
        <p:spPr>
          <a:xfrm>
            <a:off x="5852160" y="41422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najmanje potrebne ovlasti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Što se događa nakon pusha</a:t>
            </a:r>
            <a:endParaRPr lang="en-US" sz="2800" dirty="0"/>
          </a:p>
        </p:txBody>
      </p:sp>
      <p:sp>
        <p:nvSpPr>
          <p:cNvPr id="3" name="card-182"/>
          <p:cNvSpPr/>
          <p:nvPr/>
        </p:nvSpPr>
        <p:spPr>
          <a:xfrm>
            <a:off x="457200" y="1143000"/>
            <a:ext cx="2468880" cy="1371600"/>
          </a:xfrm>
          <a:prstGeom prst="roundRect">
            <a:avLst>
              <a:gd name="adj" fmla="val 5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flow-h-183"/>
          <p:cNvSpPr txBox="1"/>
          <p:nvPr/>
        </p:nvSpPr>
        <p:spPr>
          <a:xfrm>
            <a:off x="640080" y="12344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feat: / fix:</a:t>
            </a:r>
            <a:endParaRPr lang="en-US" sz="1800" dirty="0"/>
          </a:p>
        </p:txBody>
      </p:sp>
      <p:sp>
        <p:nvSpPr>
          <p:cNvPr id="5" name="flow-t-184"/>
          <p:cNvSpPr txBox="1"/>
          <p:nvPr/>
        </p:nvSpPr>
        <p:spPr>
          <a:xfrm>
            <a:off x="640080" y="16916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commit na main</a:t>
            </a:r>
            <a:endParaRPr lang="en-US" sz="1400" dirty="0"/>
          </a:p>
        </p:txBody>
      </p:sp>
      <p:sp>
        <p:nvSpPr>
          <p:cNvPr id="6" name="flow-arrow-185"/>
          <p:cNvSpPr/>
          <p:nvPr/>
        </p:nvSpPr>
        <p:spPr>
          <a:xfrm>
            <a:off x="2971800" y="1828800"/>
            <a:ext cx="32004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7" name="card-186"/>
          <p:cNvSpPr/>
          <p:nvPr/>
        </p:nvSpPr>
        <p:spPr>
          <a:xfrm>
            <a:off x="3337560" y="1143000"/>
            <a:ext cx="2468880" cy="1371600"/>
          </a:xfrm>
          <a:prstGeom prst="roundRect">
            <a:avLst>
              <a:gd name="adj" fmla="val 5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flow-h-187"/>
          <p:cNvSpPr txBox="1"/>
          <p:nvPr/>
        </p:nvSpPr>
        <p:spPr>
          <a:xfrm>
            <a:off x="3520440" y="12344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Release PR</a:t>
            </a:r>
            <a:endParaRPr lang="en-US" sz="1800" dirty="0"/>
          </a:p>
        </p:txBody>
      </p:sp>
      <p:sp>
        <p:nvSpPr>
          <p:cNvPr id="9" name="flow-t-188"/>
          <p:cNvSpPr txBox="1"/>
          <p:nvPr/>
        </p:nvSpPr>
        <p:spPr>
          <a:xfrm>
            <a:off x="3520440" y="16916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podiže version.txt i piše CHANGELOG.md</a:t>
            </a:r>
            <a:endParaRPr lang="en-US" sz="1400" dirty="0"/>
          </a:p>
        </p:txBody>
      </p:sp>
      <p:sp>
        <p:nvSpPr>
          <p:cNvPr id="10" name="flow-arrow-189"/>
          <p:cNvSpPr/>
          <p:nvPr/>
        </p:nvSpPr>
        <p:spPr>
          <a:xfrm>
            <a:off x="5852160" y="1828800"/>
            <a:ext cx="32004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1" name="card-190"/>
          <p:cNvSpPr/>
          <p:nvPr/>
        </p:nvSpPr>
        <p:spPr>
          <a:xfrm>
            <a:off x="6217920" y="1143000"/>
            <a:ext cx="2468880" cy="1371600"/>
          </a:xfrm>
          <a:prstGeom prst="roundRect">
            <a:avLst>
              <a:gd name="adj" fmla="val 533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flow-h-191"/>
          <p:cNvSpPr txBox="1"/>
          <p:nvPr/>
        </p:nvSpPr>
        <p:spPr>
          <a:xfrm>
            <a:off x="6400800" y="12344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Merge PR-a</a:t>
            </a:r>
            <a:endParaRPr lang="en-US" sz="1800" dirty="0"/>
          </a:p>
        </p:txBody>
      </p:sp>
      <p:sp>
        <p:nvSpPr>
          <p:cNvPr id="13" name="flow-t-192"/>
          <p:cNvSpPr txBox="1"/>
          <p:nvPr/>
        </p:nvSpPr>
        <p:spPr>
          <a:xfrm>
            <a:off x="6400800" y="16916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nastaju git tag i GitHub Release</a:t>
            </a:r>
            <a:endParaRPr lang="en-US" sz="1400" dirty="0"/>
          </a:p>
        </p:txBody>
      </p:sp>
      <p:sp>
        <p:nvSpPr>
          <p:cNvPr id="14" name="flow-bullets"/>
          <p:cNvSpPr txBox="1"/>
          <p:nvPr/>
        </p:nvSpPr>
        <p:spPr>
          <a:xfrm>
            <a:off x="457200" y="27432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Conventional Commits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(conventionalcommits.org): feat: i fix: otvaraju izdanje, chore: ne.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Prvi korak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ispisuje cijeli github kontekst: tko je pushao, koji commit, koja grana.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Runner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je tuđe računalo u oblaku. Self-hosted runner je opcija kad treba vlastiti hardver, npr. GPU.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Najava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tema 9 (CI/CD) i 10 (verzioniranje i konvencionalne poruke).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-193"/>
          <p:cNvSpPr/>
          <p:nvPr/>
        </p:nvSpPr>
        <p:spPr>
          <a:xfrm>
            <a:off x="548640" y="1783080"/>
            <a:ext cx="1188720" cy="11887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badge-text-194"/>
          <p:cNvSpPr txBox="1"/>
          <p:nvPr/>
        </p:nvSpPr>
        <p:spPr>
          <a:xfrm>
            <a:off x="548640" y="17830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4</a:t>
            </a:r>
            <a:endParaRPr lang="en-US" sz="4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103120" y="1737360"/>
            <a:ext cx="649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Hardver i produkcijski sustavi</a:t>
            </a:r>
            <a:endParaRPr lang="en-US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103120" y="2743200"/>
            <a:ext cx="649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Self-hosted vs cloud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Što je produkcijski sustav?</a:t>
            </a:r>
            <a:endParaRPr lang="en-US" sz="2800" dirty="0"/>
          </a:p>
        </p:txBody>
      </p:sp>
      <p:sp>
        <p:nvSpPr>
          <p:cNvPr id="3" name="card-195"/>
          <p:cNvSpPr/>
          <p:nvPr/>
        </p:nvSpPr>
        <p:spPr>
          <a:xfrm>
            <a:off x="457200" y="1371600"/>
            <a:ext cx="1517904" cy="1645920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badge-196"/>
          <p:cNvSpPr/>
          <p:nvPr/>
        </p:nvSpPr>
        <p:spPr>
          <a:xfrm>
            <a:off x="896112" y="16002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badge-text-197"/>
          <p:cNvSpPr txBox="1"/>
          <p:nvPr/>
        </p:nvSpPr>
        <p:spPr>
          <a:xfrm>
            <a:off x="896112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prod-t-198"/>
          <p:cNvSpPr txBox="1"/>
          <p:nvPr/>
        </p:nvSpPr>
        <p:spPr>
          <a:xfrm>
            <a:off x="548640" y="2377440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Stvarni korisnici</a:t>
            </a:r>
            <a:endParaRPr lang="en-US" sz="1500" dirty="0"/>
          </a:p>
        </p:txBody>
      </p:sp>
      <p:sp>
        <p:nvSpPr>
          <p:cNvPr id="7" name="card-199"/>
          <p:cNvSpPr/>
          <p:nvPr/>
        </p:nvSpPr>
        <p:spPr>
          <a:xfrm>
            <a:off x="2130552" y="1371600"/>
            <a:ext cx="1517904" cy="1645920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badge-200"/>
          <p:cNvSpPr/>
          <p:nvPr/>
        </p:nvSpPr>
        <p:spPr>
          <a:xfrm>
            <a:off x="2569464" y="16002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badge-text-201"/>
          <p:cNvSpPr txBox="1"/>
          <p:nvPr/>
        </p:nvSpPr>
        <p:spPr>
          <a:xfrm>
            <a:off x="2569464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0" name="prod-t-202"/>
          <p:cNvSpPr txBox="1"/>
          <p:nvPr/>
        </p:nvSpPr>
        <p:spPr>
          <a:xfrm>
            <a:off x="2221992" y="2377440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Dostupnost</a:t>
            </a:r>
            <a:endParaRPr lang="en-US" sz="1500" dirty="0"/>
          </a:p>
        </p:txBody>
      </p:sp>
      <p:sp>
        <p:nvSpPr>
          <p:cNvPr id="11" name="card-203"/>
          <p:cNvSpPr/>
          <p:nvPr/>
        </p:nvSpPr>
        <p:spPr>
          <a:xfrm>
            <a:off x="3803904" y="1371600"/>
            <a:ext cx="1517904" cy="1645920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badge-204"/>
          <p:cNvSpPr/>
          <p:nvPr/>
        </p:nvSpPr>
        <p:spPr>
          <a:xfrm>
            <a:off x="4242816" y="16002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badge-text-205"/>
          <p:cNvSpPr txBox="1"/>
          <p:nvPr/>
        </p:nvSpPr>
        <p:spPr>
          <a:xfrm>
            <a:off x="4242816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4" name="prod-t-206"/>
          <p:cNvSpPr txBox="1"/>
          <p:nvPr/>
        </p:nvSpPr>
        <p:spPr>
          <a:xfrm>
            <a:off x="3895344" y="2377440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Nadgledanje</a:t>
            </a:r>
            <a:endParaRPr lang="en-US" sz="1500" dirty="0"/>
          </a:p>
        </p:txBody>
      </p:sp>
      <p:sp>
        <p:nvSpPr>
          <p:cNvPr id="15" name="card-207"/>
          <p:cNvSpPr/>
          <p:nvPr/>
        </p:nvSpPr>
        <p:spPr>
          <a:xfrm>
            <a:off x="5477256" y="1371600"/>
            <a:ext cx="1517904" cy="1645920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badge-208"/>
          <p:cNvSpPr/>
          <p:nvPr/>
        </p:nvSpPr>
        <p:spPr>
          <a:xfrm>
            <a:off x="5916168" y="16002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badge-text-209"/>
          <p:cNvSpPr txBox="1"/>
          <p:nvPr/>
        </p:nvSpPr>
        <p:spPr>
          <a:xfrm>
            <a:off x="5916168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18" name="prod-t-210"/>
          <p:cNvSpPr txBox="1"/>
          <p:nvPr/>
        </p:nvSpPr>
        <p:spPr>
          <a:xfrm>
            <a:off x="5568696" y="2377440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Sigurnosne kopije</a:t>
            </a:r>
            <a:endParaRPr lang="en-US" sz="1500" dirty="0"/>
          </a:p>
        </p:txBody>
      </p:sp>
      <p:sp>
        <p:nvSpPr>
          <p:cNvPr id="19" name="card-211"/>
          <p:cNvSpPr/>
          <p:nvPr/>
        </p:nvSpPr>
        <p:spPr>
          <a:xfrm>
            <a:off x="7150608" y="1371600"/>
            <a:ext cx="1517904" cy="1645920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badge-212"/>
          <p:cNvSpPr/>
          <p:nvPr/>
        </p:nvSpPr>
        <p:spPr>
          <a:xfrm>
            <a:off x="7589520" y="16002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badge-text-213"/>
          <p:cNvSpPr txBox="1"/>
          <p:nvPr/>
        </p:nvSpPr>
        <p:spPr>
          <a:xfrm>
            <a:off x="758952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22" name="prod-t-214"/>
          <p:cNvSpPr txBox="1"/>
          <p:nvPr/>
        </p:nvSpPr>
        <p:spPr>
          <a:xfrm>
            <a:off x="7242048" y="2377440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Sigurnost</a:t>
            </a:r>
            <a:endParaRPr lang="en-US" sz="1500" dirty="0"/>
          </a:p>
        </p:txBody>
      </p:sp>
      <p:sp>
        <p:nvSpPr>
          <p:cNvPr id="23" name="card-215"/>
          <p:cNvSpPr/>
          <p:nvPr/>
        </p:nvSpPr>
        <p:spPr>
          <a:xfrm>
            <a:off x="457200" y="3291840"/>
            <a:ext cx="8229600" cy="1188720"/>
          </a:xfrm>
          <a:prstGeom prst="roundRect">
            <a:avLst>
              <a:gd name="adj" fmla="val 615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4" name="sla-h"/>
          <p:cNvSpPr txBox="1"/>
          <p:nvPr/>
        </p:nvSpPr>
        <p:spPr>
          <a:xfrm>
            <a:off x="685800" y="32918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SLA</a:t>
            </a:r>
            <a:endParaRPr lang="en-US" sz="3600" dirty="0"/>
          </a:p>
        </p:txBody>
      </p:sp>
      <p:sp>
        <p:nvSpPr>
          <p:cNvPr id="25" name="sla-t"/>
          <p:cNvSpPr txBox="1"/>
          <p:nvPr/>
        </p:nvSpPr>
        <p:spPr>
          <a:xfrm>
            <a:off x="1920240" y="3291840"/>
            <a:ext cx="658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Service Level Agreement: 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ugovorena razina usluge prema korisniku. Npr. 99,9 % dostupnosti znači najviše oko 43 minute prekida mjesečno.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Self-hosted ili cloud-hosted</a:t>
            </a:r>
            <a:endParaRPr lang="en-US" sz="2800" dirty="0"/>
          </a:p>
        </p:txBody>
      </p:sp>
      <p:sp>
        <p:nvSpPr>
          <p:cNvPr id="3" name="card-216"/>
          <p:cNvSpPr/>
          <p:nvPr/>
        </p:nvSpPr>
        <p:spPr>
          <a:xfrm>
            <a:off x="457200" y="1097280"/>
            <a:ext cx="4023360" cy="301752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host-h-217"/>
          <p:cNvSpPr txBox="1"/>
          <p:nvPr/>
        </p:nvSpPr>
        <p:spPr>
          <a:xfrm>
            <a:off x="685800" y="12344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Self-hosted (on-premise)</a:t>
            </a:r>
            <a:endParaRPr lang="en-US" sz="1800" dirty="0"/>
          </a:p>
        </p:txBody>
      </p:sp>
      <p:sp>
        <p:nvSpPr>
          <p:cNvPr id="5" name="host-tag-218"/>
          <p:cNvSpPr/>
          <p:nvPr/>
        </p:nvSpPr>
        <p:spPr>
          <a:xfrm>
            <a:off x="3383280" y="1298448"/>
            <a:ext cx="868680" cy="347472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sp>
        <p:nvSpPr>
          <p:cNvPr id="6" name="host-tag-t-219"/>
          <p:cNvSpPr txBox="1"/>
          <p:nvPr/>
        </p:nvSpPr>
        <p:spPr>
          <a:xfrm>
            <a:off x="3383280" y="1298448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CapEx</a:t>
            </a:r>
            <a:endParaRPr lang="en-US" sz="1200" dirty="0"/>
          </a:p>
        </p:txBody>
      </p:sp>
      <p:sp>
        <p:nvSpPr>
          <p:cNvPr id="7" name="host-b-220"/>
          <p:cNvSpPr txBox="1"/>
          <p:nvPr/>
        </p:nvSpPr>
        <p:spPr>
          <a:xfrm>
            <a:off x="594360" y="1828800"/>
            <a:ext cx="37490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Vlastiti poslužitelji, potpuna kontrola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Kapitalni trošak unaprijed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Sami održavamo hardver, mrežu, struju, hlađenje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Sporo skaliranje</a:t>
            </a:r>
            <a:endParaRPr lang="en-US" sz="1500" dirty="0"/>
          </a:p>
        </p:txBody>
      </p:sp>
      <p:sp>
        <p:nvSpPr>
          <p:cNvPr id="8" name="card-221"/>
          <p:cNvSpPr/>
          <p:nvPr/>
        </p:nvSpPr>
        <p:spPr>
          <a:xfrm>
            <a:off x="4663440" y="1097280"/>
            <a:ext cx="4023360" cy="301752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host-h-222"/>
          <p:cNvSpPr txBox="1"/>
          <p:nvPr/>
        </p:nvSpPr>
        <p:spPr>
          <a:xfrm>
            <a:off x="4892040" y="12344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Cloud-hosted</a:t>
            </a:r>
            <a:endParaRPr lang="en-US" sz="1800" dirty="0"/>
          </a:p>
        </p:txBody>
      </p:sp>
      <p:sp>
        <p:nvSpPr>
          <p:cNvPr id="10" name="host-tag-223"/>
          <p:cNvSpPr/>
          <p:nvPr/>
        </p:nvSpPr>
        <p:spPr>
          <a:xfrm>
            <a:off x="7589520" y="1298448"/>
            <a:ext cx="868680" cy="34747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11" name="host-tag-t-224"/>
          <p:cNvSpPr txBox="1"/>
          <p:nvPr/>
        </p:nvSpPr>
        <p:spPr>
          <a:xfrm>
            <a:off x="7589520" y="1298448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OpEx</a:t>
            </a:r>
            <a:endParaRPr lang="en-US" sz="1200" dirty="0"/>
          </a:p>
        </p:txBody>
      </p:sp>
      <p:sp>
        <p:nvSpPr>
          <p:cNvPr id="12" name="host-b-225"/>
          <p:cNvSpPr txBox="1"/>
          <p:nvPr/>
        </p:nvSpPr>
        <p:spPr>
          <a:xfrm>
            <a:off x="4800600" y="1828800"/>
            <a:ext cx="37490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Najam kapaciteta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Plaćanje po potrošnji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Skaliranje u minutama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Model podijeljene odgovornosti</a:t>
            </a:r>
            <a:endParaRPr lang="en-US" sz="1500" dirty="0"/>
          </a:p>
        </p:txBody>
      </p:sp>
      <p:sp>
        <p:nvSpPr>
          <p:cNvPr id="13" name="hybrid"/>
          <p:cNvSpPr txBox="1"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Srednji put: hibrid i edge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IaaS, PaaS, SaaS</a:t>
            </a:r>
            <a:endParaRPr lang="en-US" sz="2800" dirty="0"/>
          </a:p>
        </p:txBody>
      </p:sp>
      <p:sp>
        <p:nvSpPr>
          <p:cNvPr id="3" name="card-226"/>
          <p:cNvSpPr/>
          <p:nvPr/>
        </p:nvSpPr>
        <p:spPr>
          <a:xfrm>
            <a:off x="457200" y="1143000"/>
            <a:ext cx="2560320" cy="329184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ier-h-227"/>
          <p:cNvSpPr txBox="1"/>
          <p:nvPr/>
        </p:nvSpPr>
        <p:spPr>
          <a:xfrm>
            <a:off x="640080" y="12801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5"/>
                </a:solidFill>
              </a:rPr>
              <a:t>IaaS</a:t>
            </a:r>
            <a:endParaRPr lang="en-US" sz="4000" dirty="0"/>
          </a:p>
        </p:txBody>
      </p:sp>
      <p:sp>
        <p:nvSpPr>
          <p:cNvPr id="5" name="tier-sub-228"/>
          <p:cNvSpPr txBox="1"/>
          <p:nvPr/>
        </p:nvSpPr>
        <p:spPr>
          <a:xfrm>
            <a:off x="640080" y="2011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Infrastruktura kao usluga</a:t>
            </a:r>
            <a:endParaRPr lang="en-US" sz="1400" dirty="0"/>
          </a:p>
        </p:txBody>
      </p:sp>
      <p:sp>
        <p:nvSpPr>
          <p:cNvPr id="6" name="tier-ex-229"/>
          <p:cNvSpPr txBox="1"/>
          <p:nvPr/>
        </p:nvSpPr>
        <p:spPr>
          <a:xfrm>
            <a:off x="640080" y="2560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Primjer: VM na GCP-u</a:t>
            </a:r>
            <a:endParaRPr lang="en-US" sz="1600" dirty="0"/>
          </a:p>
        </p:txBody>
      </p:sp>
      <p:sp>
        <p:nvSpPr>
          <p:cNvPr id="7" name="tier-t-230"/>
          <p:cNvSpPr txBox="1"/>
          <p:nvPr/>
        </p:nvSpPr>
        <p:spPr>
          <a:xfrm>
            <a:off x="640080" y="30175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Mi upravljamo OS-om i svime iznad</a:t>
            </a:r>
            <a:endParaRPr lang="en-US" sz="1400" dirty="0"/>
          </a:p>
        </p:txBody>
      </p:sp>
      <p:sp>
        <p:nvSpPr>
          <p:cNvPr id="8" name="card-231"/>
          <p:cNvSpPr/>
          <p:nvPr/>
        </p:nvSpPr>
        <p:spPr>
          <a:xfrm>
            <a:off x="3291840" y="1143000"/>
            <a:ext cx="2560320" cy="329184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ier-h-232"/>
          <p:cNvSpPr txBox="1"/>
          <p:nvPr/>
        </p:nvSpPr>
        <p:spPr>
          <a:xfrm>
            <a:off x="3474720" y="12801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PaaS</a:t>
            </a:r>
            <a:endParaRPr lang="en-US" sz="4000" dirty="0"/>
          </a:p>
        </p:txBody>
      </p:sp>
      <p:sp>
        <p:nvSpPr>
          <p:cNvPr id="10" name="tier-sub-233"/>
          <p:cNvSpPr txBox="1"/>
          <p:nvPr/>
        </p:nvSpPr>
        <p:spPr>
          <a:xfrm>
            <a:off x="3474720" y="2011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Platforma kao usluga</a:t>
            </a:r>
            <a:endParaRPr lang="en-US" sz="1400" dirty="0"/>
          </a:p>
        </p:txBody>
      </p:sp>
      <p:sp>
        <p:nvSpPr>
          <p:cNvPr id="11" name="tier-ex-234"/>
          <p:cNvSpPr txBox="1"/>
          <p:nvPr/>
        </p:nvSpPr>
        <p:spPr>
          <a:xfrm>
            <a:off x="3474720" y="2560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Primjer: App Engine</a:t>
            </a:r>
            <a:endParaRPr lang="en-US" sz="1600" dirty="0"/>
          </a:p>
        </p:txBody>
      </p:sp>
      <p:sp>
        <p:nvSpPr>
          <p:cNvPr id="12" name="tier-t-235"/>
          <p:cNvSpPr txBox="1"/>
          <p:nvPr/>
        </p:nvSpPr>
        <p:spPr>
          <a:xfrm>
            <a:off x="3474720" y="30175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Mi donosimo kod, platforma ga pokreće i skalira</a:t>
            </a:r>
            <a:endParaRPr lang="en-US" sz="1400" dirty="0"/>
          </a:p>
        </p:txBody>
      </p:sp>
      <p:sp>
        <p:nvSpPr>
          <p:cNvPr id="13" name="card-236"/>
          <p:cNvSpPr/>
          <p:nvPr/>
        </p:nvSpPr>
        <p:spPr>
          <a:xfrm>
            <a:off x="6126480" y="1143000"/>
            <a:ext cx="2560320" cy="329184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ier-h-237"/>
          <p:cNvSpPr txBox="1"/>
          <p:nvPr/>
        </p:nvSpPr>
        <p:spPr>
          <a:xfrm>
            <a:off x="6309360" y="12801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SaaS</a:t>
            </a:r>
            <a:endParaRPr lang="en-US" sz="4000" dirty="0"/>
          </a:p>
        </p:txBody>
      </p:sp>
      <p:sp>
        <p:nvSpPr>
          <p:cNvPr id="15" name="tier-sub-238"/>
          <p:cNvSpPr txBox="1"/>
          <p:nvPr/>
        </p:nvSpPr>
        <p:spPr>
          <a:xfrm>
            <a:off x="6309360" y="2011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Softver kao usluga</a:t>
            </a:r>
            <a:endParaRPr lang="en-US" sz="1400" dirty="0"/>
          </a:p>
        </p:txBody>
      </p:sp>
      <p:sp>
        <p:nvSpPr>
          <p:cNvPr id="16" name="tier-ex-239"/>
          <p:cNvSpPr txBox="1"/>
          <p:nvPr/>
        </p:nvSpPr>
        <p:spPr>
          <a:xfrm>
            <a:off x="6309360" y="2560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Primjer: ChatGPT</a:t>
            </a:r>
            <a:endParaRPr lang="en-US" sz="1600" dirty="0"/>
          </a:p>
        </p:txBody>
      </p:sp>
      <p:sp>
        <p:nvSpPr>
          <p:cNvPr id="17" name="tier-t-240"/>
          <p:cNvSpPr txBox="1"/>
          <p:nvPr/>
        </p:nvSpPr>
        <p:spPr>
          <a:xfrm>
            <a:off x="6309360" y="30175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Samo koristimo gotov proizvod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Naš slučaj: LLM sustav</a:t>
            </a:r>
            <a:endParaRPr lang="en-US" sz="2800" dirty="0"/>
          </a:p>
        </p:txBody>
      </p:sp>
      <p:sp>
        <p:nvSpPr>
          <p:cNvPr id="3" name="card-241"/>
          <p:cNvSpPr/>
          <p:nvPr/>
        </p:nvSpPr>
        <p:spPr>
          <a:xfrm>
            <a:off x="457200" y="1097280"/>
            <a:ext cx="256032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ase-h-242"/>
          <p:cNvSpPr txBox="1"/>
          <p:nvPr/>
        </p:nvSpPr>
        <p:spPr>
          <a:xfrm>
            <a:off x="640080" y="12344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Lokalno (laptop)</a:t>
            </a:r>
            <a:endParaRPr lang="en-US" sz="1700" dirty="0"/>
          </a:p>
        </p:txBody>
      </p:sp>
      <p:sp>
        <p:nvSpPr>
          <p:cNvPr id="5" name="case-b-243"/>
          <p:cNvSpPr txBox="1"/>
          <p:nvPr/>
        </p:nvSpPr>
        <p:spPr>
          <a:xfrm>
            <a:off x="548640" y="173736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Besplatno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Ograničen RAM i GPU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Dostupno samo nama</a:t>
            </a:r>
            <a:endParaRPr lang="en-US" sz="1500" dirty="0"/>
          </a:p>
        </p:txBody>
      </p:sp>
      <p:sp>
        <p:nvSpPr>
          <p:cNvPr id="6" name="card-244"/>
          <p:cNvSpPr/>
          <p:nvPr/>
        </p:nvSpPr>
        <p:spPr>
          <a:xfrm>
            <a:off x="3291840" y="1097280"/>
            <a:ext cx="256032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case-h-245"/>
          <p:cNvSpPr txBox="1"/>
          <p:nvPr/>
        </p:nvSpPr>
        <p:spPr>
          <a:xfrm>
            <a:off x="3474720" y="12344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Zajednički GCP VM</a:t>
            </a:r>
            <a:endParaRPr lang="en-US" sz="1700" dirty="0"/>
          </a:p>
        </p:txBody>
      </p:sp>
      <p:sp>
        <p:nvSpPr>
          <p:cNvPr id="8" name="case-b-246"/>
          <p:cNvSpPr txBox="1"/>
          <p:nvPr/>
        </p:nvSpPr>
        <p:spPr>
          <a:xfrm>
            <a:off x="3383280" y="173736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Dijeljen među studentima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Plaća se po satu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Dostupan svima</a:t>
            </a:r>
            <a:endParaRPr lang="en-US" sz="1500" dirty="0"/>
          </a:p>
        </p:txBody>
      </p:sp>
      <p:sp>
        <p:nvSpPr>
          <p:cNvPr id="9" name="case-next"/>
          <p:cNvSpPr txBox="1"/>
          <p:nvPr/>
        </p:nvSpPr>
        <p:spPr>
          <a:xfrm>
            <a:off x="457200" y="370332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Najava tema 6–8: hardver, troškovi i infrastruktura kao kod</a:t>
            </a:r>
            <a:endParaRPr lang="en-US" sz="1400" dirty="0"/>
          </a:p>
        </p:txBody>
      </p:sp>
      <p:sp>
        <p:nvSpPr>
          <p:cNvPr id="10" name="card-247"/>
          <p:cNvSpPr/>
          <p:nvPr/>
        </p:nvSpPr>
        <p:spPr>
          <a:xfrm>
            <a:off x="6126480" y="1097280"/>
            <a:ext cx="2560320" cy="3383280"/>
          </a:xfrm>
          <a:prstGeom prst="roundRect">
            <a:avLst>
              <a:gd name="adj" fmla="val 285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disc-h"/>
          <p:cNvSpPr txBox="1"/>
          <p:nvPr/>
        </p:nvSpPr>
        <p:spPr>
          <a:xfrm>
            <a:off x="6309360" y="1234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Rasprava</a:t>
            </a:r>
            <a:endParaRPr lang="en-US" sz="1400" dirty="0"/>
          </a:p>
        </p:txBody>
      </p:sp>
      <p:sp>
        <p:nvSpPr>
          <p:cNvPr id="12" name="disc-t"/>
          <p:cNvSpPr txBox="1"/>
          <p:nvPr/>
        </p:nvSpPr>
        <p:spPr>
          <a:xfrm>
            <a:off x="6309360" y="1691640"/>
            <a:ext cx="2194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Startup s 3 programera i bolnički informacijski sustav: gdje bi tko hostao i zašto?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iz-title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Provjera razumijevanja</a:t>
            </a:r>
            <a:endParaRPr lang="en-US" sz="2800" dirty="0"/>
          </a:p>
        </p:txBody>
      </p:sp>
      <p:sp>
        <p:nvSpPr>
          <p:cNvPr id="3" name="badge-248"/>
          <p:cNvSpPr/>
          <p:nvPr/>
        </p:nvSpPr>
        <p:spPr>
          <a:xfrm>
            <a:off x="457200" y="118872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badge-text-249"/>
          <p:cNvSpPr txBox="1"/>
          <p:nvPr/>
        </p:nvSpPr>
        <p:spPr>
          <a:xfrm>
            <a:off x="45720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quiz-q-250"/>
          <p:cNvSpPr txBox="1"/>
          <p:nvPr/>
        </p:nvSpPr>
        <p:spPr>
          <a:xfrm>
            <a:off x="1097280" y="114300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Koje su faze DevOps petlje i koja odgovara fazi održavanja u SDLC-u?</a:t>
            </a:r>
            <a:endParaRPr lang="en-US" sz="1700" dirty="0"/>
          </a:p>
        </p:txBody>
      </p:sp>
      <p:sp>
        <p:nvSpPr>
          <p:cNvPr id="6" name="badge-251"/>
          <p:cNvSpPr/>
          <p:nvPr/>
        </p:nvSpPr>
        <p:spPr>
          <a:xfrm>
            <a:off x="457200" y="1901952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badge-text-252"/>
          <p:cNvSpPr txBox="1"/>
          <p:nvPr/>
        </p:nvSpPr>
        <p:spPr>
          <a:xfrm>
            <a:off x="457200" y="1901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quiz-q-253"/>
          <p:cNvSpPr txBox="1"/>
          <p:nvPr/>
        </p:nvSpPr>
        <p:spPr>
          <a:xfrm>
            <a:off x="1097280" y="1856232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Razlika između continuous delivery i continuous deployment?</a:t>
            </a:r>
            <a:endParaRPr lang="en-US" sz="1700" dirty="0"/>
          </a:p>
        </p:txBody>
      </p:sp>
      <p:sp>
        <p:nvSpPr>
          <p:cNvPr id="9" name="badge-254"/>
          <p:cNvSpPr/>
          <p:nvPr/>
        </p:nvSpPr>
        <p:spPr>
          <a:xfrm>
            <a:off x="457200" y="2615184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badge-text-255"/>
          <p:cNvSpPr txBox="1"/>
          <p:nvPr/>
        </p:nvSpPr>
        <p:spPr>
          <a:xfrm>
            <a:off x="457200" y="2615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quiz-q-256"/>
          <p:cNvSpPr txBox="1"/>
          <p:nvPr/>
        </p:nvSpPr>
        <p:spPr>
          <a:xfrm>
            <a:off x="1097280" y="2569464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Što je runner u CI workflowu?</a:t>
            </a:r>
            <a:endParaRPr lang="en-US" sz="1700" dirty="0"/>
          </a:p>
        </p:txBody>
      </p:sp>
      <p:sp>
        <p:nvSpPr>
          <p:cNvPr id="12" name="badge-257"/>
          <p:cNvSpPr/>
          <p:nvPr/>
        </p:nvSpPr>
        <p:spPr>
          <a:xfrm>
            <a:off x="457200" y="3328416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badge-text-258"/>
          <p:cNvSpPr txBox="1"/>
          <p:nvPr/>
        </p:nvSpPr>
        <p:spPr>
          <a:xfrm>
            <a:off x="457200" y="3328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quiz-q-259"/>
          <p:cNvSpPr txBox="1"/>
          <p:nvPr/>
        </p:nvSpPr>
        <p:spPr>
          <a:xfrm>
            <a:off x="1097280" y="3282696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Navedi jednu prednost self-hosted i jednu cloud-hosted infrastrukture.</a:t>
            </a:r>
            <a:endParaRPr lang="en-US" sz="1700" dirty="0"/>
          </a:p>
        </p:txBody>
      </p:sp>
      <p:sp>
        <p:nvSpPr>
          <p:cNvPr id="15" name="badge-260"/>
          <p:cNvSpPr/>
          <p:nvPr/>
        </p:nvSpPr>
        <p:spPr>
          <a:xfrm>
            <a:off x="457200" y="4041648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badge-text-261"/>
          <p:cNvSpPr txBox="1"/>
          <p:nvPr/>
        </p:nvSpPr>
        <p:spPr>
          <a:xfrm>
            <a:off x="457200" y="4041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quiz-q-262"/>
          <p:cNvSpPr txBox="1"/>
          <p:nvPr/>
        </p:nvSpPr>
        <p:spPr>
          <a:xfrm>
            <a:off x="1097280" y="3995928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Koji prefiksi po Conventional Commits otvaraju release PR?</a:t>
            </a:r>
            <a:endParaRPr lang="en-US" sz="1700" dirty="0"/>
          </a:p>
        </p:txBody>
      </p:sp>
      <p:sp>
        <p:nvSpPr>
          <p:cNvPr id="19" name="Text 0"/>
          <p:cNvSpPr/>
          <p:nvPr>
            <p:ph idx="100" type="title" hasCustomPrompt="1"/>
          </p:nvPr>
        </p:nvSpPr>
        <p:spPr>
          <a:xfrm>
            <a:off x="2103120" y="1737360"/>
            <a:ext cx="649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0" name="Text 0"/>
          <p:cNvSpPr/>
          <p:nvPr>
            <p:ph idx="101" type="body" hasCustomPrompt="1"/>
          </p:nvPr>
        </p:nvSpPr>
        <p:spPr>
          <a:xfrm>
            <a:off x="2103120" y="2743200"/>
            <a:ext cx="649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aktikum DevOps">
  <a:themeElements>
    <a:clrScheme name="Praktikum DevOps">
      <a:dk1>
        <a:srgbClr val="14202B"/>
      </a:dk1>
      <a:lt1>
        <a:srgbClr val="FFFFFF"/>
      </a:lt1>
      <a:dk2>
        <a:srgbClr val="0E3B43"/>
      </a:dk2>
      <a:lt2>
        <a:srgbClr val="EEF4F4"/>
      </a:lt2>
      <a:accent1>
        <a:srgbClr val="0E7C7B"/>
      </a:accent1>
      <a:accent2>
        <a:srgbClr val="F28C28"/>
      </a:accent2>
      <a:accent3>
        <a:srgbClr val="17BEBB"/>
      </a:accent3>
      <a:accent4>
        <a:srgbClr val="D64545"/>
      </a:accent4>
      <a:accent5>
        <a:srgbClr val="4A90A4"/>
      </a:accent5>
      <a:accent6>
        <a:srgbClr val="6B7A86"/>
      </a:accent6>
      <a:hlink>
        <a:srgbClr val="0E7C7B"/>
      </a:hlink>
      <a:folHlink>
        <a:srgbClr val="4A90A4"/>
      </a:folHlink>
    </a:clrScheme>
    <a:fontScheme name="Praktikum DevO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Blok A: Uvod, SDLC, DevOps, CI i produkcijski sustavi</dc:title>
  <dc:subject>Praktikum - Razvojne operacije, tjedan 1</dc:subject>
  <dc:creator>Andrea Hrelja</dc:creator>
  <cp:lastModifiedBy>Andrea Hrelja</cp:lastModifiedBy>
  <cp:revision>1</cp:revision>
  <dcterms:created xsi:type="dcterms:W3CDTF">2026-10-14T15:49:36Z</dcterms:created>
  <dcterms:modified xsi:type="dcterms:W3CDTF">2026-10-14T15:49:36Z</dcterms:modified>
</cp:coreProperties>
</file>
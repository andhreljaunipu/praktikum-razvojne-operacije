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(0:00 – 0:30) Dobar dan. Predstavljam izvedbeni plan kolegija Praktikum. Ukratko: kolegij je most između teorije koju ste učili na studiju i onoga što se stvarno događa kad se softverski proizvod lansira u industriji. Prezentacija traje dvanaestak minuta, a pitanja su dobrodošla na kraju.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(0:30 – 1:15) Prezentacija ima četiri poglavlja. Prvo cilj i ishodi učenja, odnosno što ćete znati i moći nakon kolegija. Zatim sadržaj kolegija i alati s kojima radimo. Središnji dio je projekt koji gradimo kroz cijeli semestar. Na kraju način rada, vrednovanje te rokovi i literatura, a nakon toga pitanja.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(1:15 – 2:00) Ukratko o meni: ja sam Andrea Hrelja, cloud engineer i nositelj kolegija Praktikum. Moja uloga u kolegiju nije samo predavačka: zajedno sa suradnicima iz privrede pripremam projektne zadatke u kojima primjenjujete stečeno znanje. Konzultacije su po dogovoru, online ili uživo, a najbrže me dobijete e-mailom.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(2:00 – 3:00) Cilj kolegija je jedan: osposobiti vas da teorijska znanja primijenite na stvarne informatičke izazove koji se javljaju kad se softverski proizvod lansira. Shema prikazuje put: krećemo od znanja koje već imate, kroz rad na projektima i suradnju s mentorima iz industrije, do proizvoda koji je stvarno pokrenut. Naglasak nije na novoj teoriji, nego na primjeni.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(3:00 – 4:15) Pet ishoda učenja poredano je kao stepenice, od jednostavnijih prema zahtjevnijima. Prvo prepoznajete i navodite osnovne koncepte i alate oblačnog računalstva: softverska aplikacija, CLI, kontejnerizacija, CI/CD, verzioniranje i izdavanje. Zatim razlikujete razvojna okruženja: lokalno, testno i produkcijsko. Treća stepenica je primjena teorije na grupnim projektima. Četvrta je analiza infrastrukturnih zahtjeva iz stvarnog okruženja. Na vrhu je evaluacija: kritički vrednujete vlastito rješenje prema učinkovitosti, sigurnosti, skalabilnosti i usklađenosti s poslovnim zahtjevima, primjenjujući standarde i kriterije kvalitete.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(4:15 – 5:05) Drugi ishod zaslužuje vlastiti slajd jer se provlači kroz cijeli kolegij. Softver ne ide izravno s vašeg računala korisnicima. Prvo nastaje u lokalnom okruženju, zatim se provjerava u testnom, a tek onda dolazi u produkcijsko, gdje ga koriste stvarni korisnici. Kroz semestar ćete ta okruženja raščlaniti i postaviti, i na lokalnom i na udaljenom računalu, što je i jedna od tema kolegija.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(5:05 – 6:35) Sadržaj ima dvanaest tema. Radi preglednosti grupirane su u četiri cjeline. Prva je razvoj i suradnja: osnove razvoja softvera i razvojnih operacija, verzioniranje koda gitom te strategije grananja i spajanja promjena na GitHubu. Druga su kontejneri i testiranje: Docker za kontejnerizaciju, orkestraciju i nadgledanje te ručno i automatsko testiranje. Treća je infrastruktura: hardver i serviranje softvera, analiza troškova na udaljenom računalu te infrastruktura kao kod u Terraformu. Četvrta je isporuka i proces: CI/CD s GitHub Actions, verzioniranje izdanja s konvencionalnim porukama, razvojna okruženja i rad po Scrumu uz Trello.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(6:35 – 7:35) Ovo su alati koje koristimo, uz broj teme u kojoj se pojavljuju. Python nam služi za skripte kojima komuniciramo s jezičnim modelom i testiramo sustav. Git i GitHub za verzioniranje i suradnju, Docker za kontejnere, Terraform za infrastrukturu kao kod, GitHub Actions za CI/CD, Conventional Commits kao konvencija poruka, a Trello kao kanban ploča uz Scrum. Ollama i Open WebUI su temelj semestralnog projekta. Važno: alati su primjeri. Ako industrijski partner koristi nešto drugo, primjerice GitLab CI/CD ili drugi kanban alat, prilagodit ćemo 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(7:35 – 8:55) Kroz cijeli semestar gradimo jedan sustav, korak po korak. Na početku pišete kratke Python skripte koje komuniciraju s odabranim velikim jezičnim modelom. Kad upoznamo kontejnerizaciju, postavljamo sustav za lokalno posluživanje manjeg jezičnog modela pomoću Ollame i Open WebUI-ja, i pišete Python skripte koje taj sustav testiraju. U nastavku semestra naglasak se seli na razvojne operacije nad postavljenim sustavom, i na lokalnom i na udaljenom računalu. Dakle, sve teme s prethodnog slajda primjenjujemo na isti, vaš sustav.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(8:55 – 10:05) Ovako sustav izgleda na jednoj slici. Gornji red: Python skripte testiraju sustav, Open WebUI je sučelje za razgovor, a Ollama poslužuje manji jezični model; sve to pokrećemo u Docker kontejnerima. Donji red pokazuje kako taj sustav stiže na udaljeno računalo: kod je verzioniran gitom na GitHubu, GitHub Actions brine o kontinuiranoj integraciji i isporuci, Terraform opisuje infrastrukturu kao kod, a na kraju je sustav lansiran i nadgledan na udaljenom računalu. Usput analiziramo i hardver te troškove serviranja na tom računalu.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(10:05 – 11:05) Svaka cjelina prati isti obrazac. Prvo kratko teoretsko predavanje ili prezentacija, zatim praktični zadaci koje rješavate individualno i u grupi. Vrhunac je projektni zadatak koji studenti prezentiraju pred grupom. Projektne zadatke ne izmišljamo u učionici: pripremaju ih nositelj kolegija zajedno sa suradnicima iz privrede, tako da rješavate probleme kakvi se stvarno pojavljuju u industriji.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(11:05 – 12:05) Vrednovanje je izvedeno kroz tri elementa. Prvi su rezultati kraćih praktičnih zadataka koje rješavate tijekom semestra. Drugi je vaša sposobnost rješavanja danih individualnih i grupnih zadaća. Treći je prezentacija projektnog zadatka pred grupom. Vaša obveza je, dakle, redovito raditi zadatke i aktivno sudjelovati u grupnom projektu.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(12:05 – 12:45) Za kraj dvije praktične informacije. Rokovi ispita i kolokvija objavljuju se na mrežnim stranicama Fakulteta, odnosno na Studomatu. Što se literature tiče, preporuča se literatura prema specifičnim zahtjevima područja poslovnog subjekta s kojim radite na projektu, kao i ona koju ste već koristili tijekom studija. Dvije knjige posebno preporučujem: Accelerate, autora Forsgren, Humble i Kim, o tome što razlikuje uspješne DevOps organizacije, te praktični vodič Henryja van Merodea o dizajnu i razvoju CI/CD cjevovoda.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(12:45 – 13:15 + pitanja) Hvala na pažnji. Ukratko: kolegij Praktikum vodi vas od teorije do lansiranog sustava, kroz jedan projekt koji raste cijeli semestar, uz alate i projektne zadatke iz industrije. Otvoren sam za pitanja.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708150" y="592435"/>
            <a:ext cx="3963095" cy="54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708150" y="1445865"/>
            <a:ext cx="9671050" cy="4599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708150" y="592435"/>
            <a:ext cx="3963095" cy="54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708150" y="1445865"/>
            <a:ext cx="9671050" cy="4599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0" y="0"/>
            <a:ext cx="3810000" cy="3810000"/>
          </a:xfrm>
          <a:prstGeom prst="roundRect">
            <a:avLst>
              <a:gd name="adj" fmla="val 42667"/>
            </a:avLst>
          </a:prstGeom>
          <a:solidFill>
            <a:srgbClr val="00C3E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63000" y="5207000"/>
            <a:ext cx="2794000" cy="2794000"/>
          </a:xfrm>
          <a:prstGeom prst="roundRect">
            <a:avLst>
              <a:gd name="adj" fmla="val 50000"/>
            </a:avLst>
          </a:prstGeom>
          <a:solidFill>
            <a:srgbClr val="00C3E3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73100" y="488950"/>
            <a:ext cx="1117117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3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Sveučilište Jurja Dobrile u Puli · Fakultet informatike u Puli</a:t>
            </a:r>
            <a:endParaRPr lang="en-US" sz="15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73100" y="908050"/>
            <a:ext cx="11171174" cy="947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i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Praktikum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73100" y="1982440"/>
            <a:ext cx="1117117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00C3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Izvedbeni plan nastave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73100" y="2500561"/>
            <a:ext cx="719455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93A7A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Od teorije do lansiranog softverskog proizvoda — kroz projekte i suradnju s mentorima iz industrije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3100" y="5187950"/>
            <a:ext cx="40132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pic>
        <p:nvPicPr>
          <p:cNvPr id="9" name="Image 0" descr="Sveučilište Jurja Dobrile u Puli i Fakultet informatike u Puli">    </p:cNvPr>
          <p:cNvPicPr>
            <a:picLocks noChangeAspect="1"/>
          </p:cNvPicPr>
          <p:nvPr/>
        </p:nvPicPr>
        <p:blipFill>
          <a:blip r:embed="rId1"/>
          <a:srcRect l="0" r="0" t="-206" b="-206"/>
          <a:stretch/>
        </p:blipFill>
        <p:spPr>
          <a:xfrm>
            <a:off x="901700" y="5365750"/>
            <a:ext cx="3556000" cy="825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48650" y="6019800"/>
            <a:ext cx="32702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3A7A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Pula, listopad 2026.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3100" y="488950"/>
            <a:ext cx="101600" cy="755650"/>
          </a:xfrm>
          <a:prstGeom prst="roundRect">
            <a:avLst>
              <a:gd name="adj" fmla="val 50000"/>
            </a:avLst>
          </a:prstGeom>
          <a:solidFill>
            <a:srgbClr val="00C3E3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54100" y="592435"/>
            <a:ext cx="4916150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Sadržaj prezentacije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3100" y="1701800"/>
            <a:ext cx="1270000" cy="482600"/>
          </a:xfrm>
          <a:prstGeom prst="roundRect">
            <a:avLst>
              <a:gd name="adj" fmla="val 13158"/>
            </a:avLst>
          </a:pr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7100" y="1783060"/>
            <a:ext cx="405511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Cilj i ishodi učenja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88100" y="1809750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Što ćeš znati i moći nakon kolegija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3100" y="2324100"/>
            <a:ext cx="1270000" cy="482600"/>
          </a:xfrm>
          <a:prstGeom prst="roundRect">
            <a:avLst>
              <a:gd name="adj" fmla="val 13158"/>
            </a:avLst>
          </a:pr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97100" y="2405360"/>
            <a:ext cx="405511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Sadržaj kolegija i alati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88100" y="2432050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 tema u 4 cjeline i alati koje koristimo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3100" y="2946400"/>
            <a:ext cx="1270000" cy="482600"/>
          </a:xfrm>
          <a:prstGeom prst="roundRect">
            <a:avLst>
              <a:gd name="adj" fmla="val 13158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97100" y="3027660"/>
            <a:ext cx="405511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Projekt kroz semestar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88100" y="3054350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Lokalni LLM sustav i razvojne operacije nad njim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3100" y="3568700"/>
            <a:ext cx="1270000" cy="482600"/>
          </a:xfrm>
          <a:prstGeom prst="roundRect">
            <a:avLst>
              <a:gd name="adj" fmla="val 13158"/>
            </a:avLst>
          </a:pr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97100" y="3649960"/>
            <a:ext cx="405511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Način rada i vrednovanje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88100" y="3676650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Kako učimo, što se vrednuje, rokovi i literatura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3100" y="4191000"/>
            <a:ext cx="1270000" cy="482600"/>
          </a:xfrm>
          <a:prstGeom prst="roundRect">
            <a:avLst>
              <a:gd name="adj" fmla="val 13158"/>
            </a:avLst>
          </a:prstGeom>
          <a:solidFill>
            <a:srgbClr val="0B2E3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97100" y="4272260"/>
            <a:ext cx="405511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Pitanja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88100" y="4298950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Otvoreni razgovor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3100" y="6084590"/>
            <a:ext cx="1117117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Četiri poglavlja; projekt je središnji dio kolegija.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3100" y="488950"/>
            <a:ext cx="101600" cy="755650"/>
          </a:xfrm>
          <a:prstGeom prst="roundRect">
            <a:avLst>
              <a:gd name="adj" fmla="val 50000"/>
            </a:avLst>
          </a:prstGeom>
          <a:solidFill>
            <a:srgbClr val="00C3E3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54100" y="592435"/>
            <a:ext cx="3882390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Nositelj kolegija</a:t>
            </a:r>
            <a:endParaRPr lang="en-US" sz="3600" dirty="0"/>
          </a:p>
        </p:txBody>
      </p:sp>
      <p:pic>
        <p:nvPicPr>
          <p:cNvPr id="4" name="Image 0" descr="Andrea Hrelja">    </p:cNvPr>
          <p:cNvPicPr>
            <a:picLocks noChangeAspect="1"/>
          </p:cNvPicPr>
          <p:nvPr/>
        </p:nvPicPr>
        <p:blipFill>
          <a:blip r:embed="rId1"/>
          <a:srcRect l="3229" r="3229" t="0" b="0"/>
          <a:stretch/>
        </p:blipFill>
        <p:spPr>
          <a:xfrm>
            <a:off x="711200" y="1807170"/>
            <a:ext cx="2717800" cy="271780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2150" y="1788120"/>
            <a:ext cx="2755900" cy="2755900"/>
          </a:xfrm>
          <a:prstGeom prst="ellipse">
            <a:avLst/>
          </a:prstGeom>
          <a:noFill/>
          <a:ln w="38100">
            <a:solidFill>
              <a:srgbClr val="00C3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975100" y="1701800"/>
            <a:ext cx="7770114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Andrea Hrelja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975100" y="2357090"/>
            <a:ext cx="77701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 Engineer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975100" y="2865090"/>
            <a:ext cx="77701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Nositelj kolegija Praktikum · Fakultet informatike u Puli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975100" y="3284190"/>
            <a:ext cx="1397000" cy="381000"/>
          </a:xfrm>
          <a:prstGeom prst="roundRect">
            <a:avLst>
              <a:gd name="adj" fmla="val 16667"/>
            </a:avLst>
          </a:pr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E-mail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524500" y="3332460"/>
            <a:ext cx="224992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andhrelja@gmail.com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975100" y="3766790"/>
            <a:ext cx="1397000" cy="381000"/>
          </a:xfrm>
          <a:prstGeom prst="roundRect">
            <a:avLst>
              <a:gd name="adj" fmla="val 16667"/>
            </a:avLst>
          </a:pr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Konzultacije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524500" y="3815060"/>
            <a:ext cx="129420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 dogovoru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975100" y="4249390"/>
            <a:ext cx="1397000" cy="381000"/>
          </a:xfrm>
          <a:prstGeom prst="roundRect">
            <a:avLst>
              <a:gd name="adj" fmla="val 16667"/>
            </a:avLst>
          </a:pr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Kabinet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24500" y="4297660"/>
            <a:ext cx="224867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Online ili po dogovoru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3100" y="6084590"/>
            <a:ext cx="1117117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Projektne zadatke nositelj priprema u suradnji sa suradnicima iz privrede.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100" y="488950"/>
            <a:ext cx="755650" cy="755650"/>
          </a:xfrm>
          <a:prstGeom prst="roundRect">
            <a:avLst>
              <a:gd name="adj" fmla="val 19328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29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708150" y="592435"/>
            <a:ext cx="2807613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Cilj kolegija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3100" y="1701800"/>
            <a:ext cx="9810750" cy="817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Osposobiti studente da </a:t>
            </a:r>
            <a:r>
              <a:rPr lang="en-US" sz="24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teorijska znanja primijene</a:t>
            </a:r>
            <a:r>
              <a:rPr lang="en-US" sz="24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na </a:t>
            </a:r>
            <a:r>
              <a:rPr lang="en-US" sz="24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stvarne informatičke izazove</a:t>
            </a:r>
            <a:r>
              <a:rPr lang="en-US" sz="24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koji se javljaju pri lansiranju softverskih proizvoda.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73100" y="2951460"/>
            <a:ext cx="3310434" cy="1417290"/>
          </a:xfrm>
          <a:prstGeom prst="roundRect">
            <a:avLst>
              <a:gd name="adj" fmla="val 6721"/>
            </a:avLst>
          </a:prstGeom>
          <a:solidFill>
            <a:srgbClr val="00C3E3"/>
          </a:solidFill>
          <a:ln/>
        </p:spPr>
      </p:sp>
      <p:sp>
        <p:nvSpPr>
          <p:cNvPr id="6" name="Text 4"/>
          <p:cNvSpPr/>
          <p:nvPr/>
        </p:nvSpPr>
        <p:spPr>
          <a:xfrm>
            <a:off x="927100" y="3205460"/>
            <a:ext cx="288650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Polazište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7100" y="3530550"/>
            <a:ext cx="288650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Teorijska znanja sa studija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029254" y="3446760"/>
            <a:ext cx="365760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440734" y="2951460"/>
            <a:ext cx="3310483" cy="1417290"/>
          </a:xfrm>
          <a:prstGeom prst="roundRect">
            <a:avLst>
              <a:gd name="adj" fmla="val 6721"/>
            </a:avLst>
          </a:prstGeom>
          <a:solidFill>
            <a:srgbClr val="0B2E38"/>
          </a:solidFill>
          <a:ln/>
        </p:spPr>
      </p:sp>
      <p:sp>
        <p:nvSpPr>
          <p:cNvPr id="10" name="Text 8"/>
          <p:cNvSpPr/>
          <p:nvPr/>
        </p:nvSpPr>
        <p:spPr>
          <a:xfrm>
            <a:off x="4694734" y="3205460"/>
            <a:ext cx="28865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3A7A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Kako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94734" y="3530550"/>
            <a:ext cx="288655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Rad na projektima uz mentore iz industrije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96937" y="3446760"/>
            <a:ext cx="365760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08417" y="2951460"/>
            <a:ext cx="3310483" cy="1417290"/>
          </a:xfrm>
          <a:prstGeom prst="roundRect">
            <a:avLst>
              <a:gd name="adj" fmla="val 6721"/>
            </a:avLst>
          </a:prstGeom>
          <a:solidFill>
            <a:srgbClr val="00C3E3"/>
          </a:solidFill>
          <a:ln/>
        </p:spPr>
      </p:sp>
      <p:sp>
        <p:nvSpPr>
          <p:cNvPr id="14" name="Text 12"/>
          <p:cNvSpPr/>
          <p:nvPr/>
        </p:nvSpPr>
        <p:spPr>
          <a:xfrm>
            <a:off x="8462417" y="3205460"/>
            <a:ext cx="28865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Ishod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62417" y="3530550"/>
            <a:ext cx="288655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Lansiran softverski proizvod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3100" y="6084590"/>
            <a:ext cx="1117117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Kolegij je most između fakultetske teorije i industrijske prakse.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100" y="488950"/>
            <a:ext cx="755650" cy="755650"/>
          </a:xfrm>
          <a:prstGeom prst="roundRect">
            <a:avLst>
              <a:gd name="adj" fmla="val 19328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29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708150" y="592435"/>
            <a:ext cx="3209865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Ishodi učenja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3100" y="4264720"/>
            <a:ext cx="2108647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Koncepte, metode i alate oblačnog računalstva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3100" y="4762500"/>
            <a:ext cx="2047230" cy="1079500"/>
          </a:xfrm>
          <a:prstGeom prst="roundRect">
            <a:avLst>
              <a:gd name="adj" fmla="val 7059"/>
            </a:avLst>
          </a:prstGeom>
          <a:solidFill>
            <a:srgbClr val="00C3E3"/>
          </a:solidFill>
          <a:ln/>
        </p:spPr>
      </p:sp>
      <p:sp>
        <p:nvSpPr>
          <p:cNvPr id="6" name="Text 4"/>
          <p:cNvSpPr/>
          <p:nvPr/>
        </p:nvSpPr>
        <p:spPr>
          <a:xfrm>
            <a:off x="825500" y="4914900"/>
            <a:ext cx="179470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5500" y="5171430"/>
            <a:ext cx="179470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Prepoznati i navesti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72730" y="3851970"/>
            <a:ext cx="2108698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Lokalno, testno i produkcijsko okruženje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72730" y="4349750"/>
            <a:ext cx="2047280" cy="1492250"/>
          </a:xfrm>
          <a:prstGeom prst="roundRect">
            <a:avLst>
              <a:gd name="adj" fmla="val 5106"/>
            </a:avLst>
          </a:prstGeom>
          <a:solidFill>
            <a:srgbClr val="00C3E3"/>
          </a:solidFill>
          <a:ln/>
        </p:spPr>
      </p:sp>
      <p:sp>
        <p:nvSpPr>
          <p:cNvPr id="10" name="Text 8"/>
          <p:cNvSpPr/>
          <p:nvPr/>
        </p:nvSpPr>
        <p:spPr>
          <a:xfrm>
            <a:off x="3025130" y="4502150"/>
            <a:ext cx="179475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25130" y="4758680"/>
            <a:ext cx="179475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Razlikovati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2410" y="3304629"/>
            <a:ext cx="2108647" cy="61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Teoriju na grupnim projektima, uz stvarne alate i metodologije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72410" y="4000500"/>
            <a:ext cx="2047230" cy="1841500"/>
          </a:xfrm>
          <a:prstGeom prst="roundRect">
            <a:avLst>
              <a:gd name="adj" fmla="val 4138"/>
            </a:avLst>
          </a:prstGeom>
          <a:solidFill>
            <a:srgbClr val="00C3E3"/>
          </a:solidFill>
          <a:ln/>
        </p:spPr>
      </p:sp>
      <p:sp>
        <p:nvSpPr>
          <p:cNvPr id="14" name="Text 12"/>
          <p:cNvSpPr/>
          <p:nvPr/>
        </p:nvSpPr>
        <p:spPr>
          <a:xfrm>
            <a:off x="5224810" y="4152900"/>
            <a:ext cx="179470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24810" y="4409430"/>
            <a:ext cx="1794703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Primijeniti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72040" y="3058220"/>
            <a:ext cx="2108647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Infrastrukturne zahtjeve iz stvarnog okruženja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72040" y="3556000"/>
            <a:ext cx="2047230" cy="2286000"/>
          </a:xfrm>
          <a:prstGeom prst="roundRect">
            <a:avLst>
              <a:gd name="adj" fmla="val 3722"/>
            </a:avLst>
          </a:prstGeom>
          <a:solidFill>
            <a:srgbClr val="00C3E3"/>
          </a:solidFill>
          <a:ln/>
        </p:spPr>
      </p:sp>
      <p:sp>
        <p:nvSpPr>
          <p:cNvPr id="18" name="Text 16"/>
          <p:cNvSpPr/>
          <p:nvPr/>
        </p:nvSpPr>
        <p:spPr>
          <a:xfrm>
            <a:off x="7424440" y="3708400"/>
            <a:ext cx="179470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24440" y="3964930"/>
            <a:ext cx="1794703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Analizirati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71670" y="2415629"/>
            <a:ext cx="2108647" cy="61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Učinkovitost, sigurnost, skalabilnost i usklađenost s poslovanjem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471670" y="3111500"/>
            <a:ext cx="2047230" cy="2730500"/>
          </a:xfrm>
          <a:prstGeom prst="roundRect">
            <a:avLst>
              <a:gd name="adj" fmla="val 3722"/>
            </a:avLst>
          </a:prstGeom>
          <a:solidFill>
            <a:srgbClr val="0B2E38"/>
          </a:solidFill>
          <a:ln/>
        </p:spPr>
      </p:sp>
      <p:sp>
        <p:nvSpPr>
          <p:cNvPr id="22" name="Text 20"/>
          <p:cNvSpPr/>
          <p:nvPr/>
        </p:nvSpPr>
        <p:spPr>
          <a:xfrm>
            <a:off x="9624070" y="3263900"/>
            <a:ext cx="179470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C3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24070" y="3520430"/>
            <a:ext cx="1794703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Evaluirati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3100" y="6084590"/>
            <a:ext cx="1117117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Svaka stepenica traži višu razinu znanja: od prepoznavanja alata do vrednovanja vlastitih rješenja.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100" y="488950"/>
            <a:ext cx="755650" cy="755650"/>
          </a:xfrm>
          <a:prstGeom prst="roundRect">
            <a:avLst>
              <a:gd name="adj" fmla="val 19328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29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708150" y="592435"/>
            <a:ext cx="4748689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Razvojna okruženja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3100" y="1701800"/>
            <a:ext cx="915670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Isti softver prolazi kroz tri okruženja prije nego što stigne do korisnika. Student ih treba prepoznati i razlikovati.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3100" y="2753320"/>
            <a:ext cx="3276600" cy="2151360"/>
          </a:xfrm>
          <a:prstGeom prst="roundRect">
            <a:avLst>
              <a:gd name="adj" fmla="val 4427"/>
            </a:avLst>
          </a:prstGeom>
          <a:solidFill>
            <a:srgbClr val="F1F7F9"/>
          </a:solidFill>
          <a:ln/>
        </p:spPr>
      </p:sp>
      <p:sp>
        <p:nvSpPr>
          <p:cNvPr id="6" name="Text 4"/>
          <p:cNvSpPr/>
          <p:nvPr/>
        </p:nvSpPr>
        <p:spPr>
          <a:xfrm>
            <a:off x="977900" y="3058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7900" y="3642320"/>
            <a:ext cx="274701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Lokalno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77900" y="4104580"/>
            <a:ext cx="274701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Razvoj i prve provjere na vlastitom računalu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90340" y="3580061"/>
            <a:ext cx="42672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457700" y="2753320"/>
            <a:ext cx="3276600" cy="2151360"/>
          </a:xfrm>
          <a:prstGeom prst="roundRect">
            <a:avLst>
              <a:gd name="adj" fmla="val 4427"/>
            </a:avLst>
          </a:prstGeom>
          <a:solidFill>
            <a:srgbClr val="F1F7F9"/>
          </a:solidFill>
          <a:ln/>
        </p:spPr>
      </p:sp>
      <p:sp>
        <p:nvSpPr>
          <p:cNvPr id="11" name="Text 9"/>
          <p:cNvSpPr/>
          <p:nvPr/>
        </p:nvSpPr>
        <p:spPr>
          <a:xfrm>
            <a:off x="4762500" y="3058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62500" y="3642320"/>
            <a:ext cx="274701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Testno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62500" y="4104580"/>
            <a:ext cx="29718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Provjera promjena prije izdavanja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4940" y="3580061"/>
            <a:ext cx="42672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42300" y="2753320"/>
            <a:ext cx="3276600" cy="2151360"/>
          </a:xfrm>
          <a:prstGeom prst="roundRect">
            <a:avLst>
              <a:gd name="adj" fmla="val 4427"/>
            </a:avLst>
          </a:prstGeom>
          <a:solidFill>
            <a:srgbClr val="0B2E38"/>
          </a:solidFill>
          <a:ln/>
        </p:spPr>
      </p:sp>
      <p:sp>
        <p:nvSpPr>
          <p:cNvPr id="16" name="Text 14"/>
          <p:cNvSpPr/>
          <p:nvPr/>
        </p:nvSpPr>
        <p:spPr>
          <a:xfrm>
            <a:off x="8547100" y="3058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47100" y="3642320"/>
            <a:ext cx="274701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0C3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Produkcijsko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47100" y="4104580"/>
            <a:ext cx="274701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Sustav koji koriste stvarni korisnici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3100" y="6084590"/>
            <a:ext cx="1117117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Okruženja raščlanjujemo i postavljamo na lokalnom i na udaljenom računalu.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100" y="488950"/>
            <a:ext cx="755650" cy="755650"/>
          </a:xfrm>
          <a:prstGeom prst="roundRect">
            <a:avLst>
              <a:gd name="adj" fmla="val 19328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29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708150" y="592435"/>
            <a:ext cx="8579941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Sadržaj kolegija: 12 tema u 4 cjeline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3100" y="1549400"/>
            <a:ext cx="2578100" cy="457200"/>
          </a:xfrm>
          <a:prstGeom prst="roundRect">
            <a:avLst>
              <a:gd name="adj" fmla="val 16667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Razvoj i suradnja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3100" y="21463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04900" y="2146300"/>
            <a:ext cx="221068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Razvoj aplikacijskog softvera i razvojne operacije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3100" y="26821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4900" y="2682180"/>
            <a:ext cx="2210689" cy="61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Verzioniranje koda i kolaborativno programiranje (git)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3100" y="341615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04900" y="3416151"/>
            <a:ext cx="2210689" cy="61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Strategije razvoja, praćenja i spajanja promjena (git, GitHub)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549400"/>
            <a:ext cx="2578100" cy="457200"/>
          </a:xfrm>
          <a:prstGeom prst="roundRect">
            <a:avLst>
              <a:gd name="adj" fmla="val 16667"/>
            </a:avLst>
          </a:prstGeom>
          <a:solidFill>
            <a:srgbClr val="0B2E3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Kontejneri i testiranje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21463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60800" y="2146300"/>
            <a:ext cx="221068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Kontejnerizacija, orkestracija i nadgledanje (Docker)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6821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60800" y="2682180"/>
            <a:ext cx="221068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Ručno i automatsko testiranje, lokalno i udaljeno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4900" y="1549400"/>
            <a:ext cx="2578100" cy="457200"/>
          </a:xfrm>
          <a:prstGeom prst="roundRect">
            <a:avLst>
              <a:gd name="adj" fmla="val 16667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Infrastruktura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84900" y="21463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16700" y="2146300"/>
            <a:ext cx="221068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Hardver i serviranje softvera, ručno i automatski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4900" y="26821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6700" y="2682180"/>
            <a:ext cx="221068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Analiza hardvera i troškova na udaljenom računalu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84900" y="321806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16700" y="3218061"/>
            <a:ext cx="2210689" cy="61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Lansiranje i nadgledanje: infrastruktura kao kod (Terraform)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40800" y="1549400"/>
            <a:ext cx="2578100" cy="457200"/>
          </a:xfrm>
          <a:prstGeom prst="roundRect">
            <a:avLst>
              <a:gd name="adj" fmla="val 16667"/>
            </a:avLst>
          </a:prstGeom>
          <a:solidFill>
            <a:srgbClr val="0B2E3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Isporuka i proces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940800" y="21463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72600" y="2146300"/>
            <a:ext cx="221068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CI/CD na udaljenom računalu (GitHub Actions)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40800" y="268218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hR="165100" wR="165100" stAng="16200000" swAng="5400000"/>
                <a:lnTo>
                  <a:pt x="330200" y="165100"/>
                </a:lnTo>
                <a:arcTo hR="165100" wR="165100" stAng="0" swAng="5400000"/>
                <a:lnTo>
                  <a:pt x="165100" y="330200"/>
                </a:lnTo>
                <a:arcTo hR="165100" wR="165100" stAng="5400000" swAng="5400000"/>
                <a:lnTo>
                  <a:pt x="0" y="165100"/>
                </a:lnTo>
                <a:arcTo hR="165100" wR="165100" stAng="10800000" swAng="5400000"/>
                <a:close/>
              </a:path>
            </a:pathLst>
          </a:cu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72600" y="2682180"/>
            <a:ext cx="221068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Verzioniranje softvera i konvencionalne poruke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40800" y="3218061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hR="165100" wR="165100" stAng="16200000" swAng="5400000"/>
                <a:lnTo>
                  <a:pt x="330200" y="165100"/>
                </a:lnTo>
                <a:arcTo hR="165100" wR="165100" stAng="0" swAng="5400000"/>
                <a:lnTo>
                  <a:pt x="165100" y="330200"/>
                </a:lnTo>
                <a:arcTo hR="165100" wR="165100" stAng="5400000" swAng="5400000"/>
                <a:lnTo>
                  <a:pt x="0" y="165100"/>
                </a:lnTo>
                <a:arcTo hR="165100" wR="165100" stAng="10800000" swAng="5400000"/>
                <a:close/>
              </a:path>
            </a:pathLst>
          </a:cu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72600" y="3218061"/>
            <a:ext cx="2210689" cy="61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Razvojna okruženja na lokalnom i udaljenom računalu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40800" y="3952032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hR="165100" wR="165100" stAng="16200000" swAng="5400000"/>
                <a:lnTo>
                  <a:pt x="330200" y="165100"/>
                </a:lnTo>
                <a:arcTo hR="165100" wR="165100" stAng="0" swAng="5400000"/>
                <a:lnTo>
                  <a:pt x="165100" y="330200"/>
                </a:lnTo>
                <a:arcTo hR="165100" wR="165100" stAng="5400000" swAng="5400000"/>
                <a:lnTo>
                  <a:pt x="0" y="165100"/>
                </a:lnTo>
                <a:arcTo hR="165100" wR="165100" stAng="10800000" swAng="5400000"/>
                <a:close/>
              </a:path>
            </a:pathLst>
          </a:custGeom>
          <a:solidFill>
            <a:srgbClr val="F1F7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72600" y="3952032"/>
            <a:ext cx="221068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Životni ciklus razvoja: Scrum i Trello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100" y="488950"/>
            <a:ext cx="755650" cy="755650"/>
          </a:xfrm>
          <a:prstGeom prst="roundRect">
            <a:avLst>
              <a:gd name="adj" fmla="val 19328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29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708150" y="592435"/>
            <a:ext cx="5070396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Alati s kojima radimo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73100" y="1600200"/>
            <a:ext cx="2047230" cy="1694160"/>
          </a:xfrm>
          <a:prstGeom prst="roundRect">
            <a:avLst>
              <a:gd name="adj" fmla="val 5622"/>
            </a:avLst>
          </a:prstGeom>
          <a:solidFill>
            <a:srgbClr val="F1F7F9"/>
          </a:solidFill>
          <a:ln/>
        </p:spPr>
      </p:sp>
      <p:pic>
        <p:nvPicPr>
          <p:cNvPr id="5" name="Image 0" descr="Pyth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66490" y="1803400"/>
            <a:ext cx="660400" cy="66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1044" y="2552700"/>
            <a:ext cx="73134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808" y="2908300"/>
            <a:ext cx="192976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Skripte za LLM i testiranje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72730" y="1600200"/>
            <a:ext cx="2047230" cy="1694160"/>
          </a:xfrm>
          <a:prstGeom prst="roundRect">
            <a:avLst>
              <a:gd name="adj" fmla="val 5622"/>
            </a:avLst>
          </a:prstGeom>
          <a:solidFill>
            <a:srgbClr val="F1F7F9"/>
          </a:solidFill>
          <a:ln/>
        </p:spPr>
      </p:sp>
      <p:pic>
        <p:nvPicPr>
          <p:cNvPr id="9" name="Image 1" descr="Gi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66120" y="1803400"/>
            <a:ext cx="660400" cy="660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47393" y="2552700"/>
            <a:ext cx="29790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518595" y="2908300"/>
            <a:ext cx="75545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Teme 2 i 3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72360" y="1600200"/>
            <a:ext cx="2047230" cy="1694160"/>
          </a:xfrm>
          <a:prstGeom prst="roundRect">
            <a:avLst>
              <a:gd name="adj" fmla="val 5622"/>
            </a:avLst>
          </a:prstGeom>
          <a:solidFill>
            <a:srgbClr val="F1F7F9"/>
          </a:solidFill>
          <a:ln/>
        </p:spPr>
      </p:sp>
      <p:pic>
        <p:nvPicPr>
          <p:cNvPr id="13" name="Image 2" descr="GitHub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65750" y="1803400"/>
            <a:ext cx="660400" cy="660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40306" y="2552700"/>
            <a:ext cx="71133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GitHub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821988" y="2908300"/>
            <a:ext cx="547926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Tema 3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271990" y="1600200"/>
            <a:ext cx="2047230" cy="1694160"/>
          </a:xfrm>
          <a:prstGeom prst="roundRect">
            <a:avLst>
              <a:gd name="adj" fmla="val 5622"/>
            </a:avLst>
          </a:prstGeom>
          <a:solidFill>
            <a:srgbClr val="F1F7F9"/>
          </a:solidFill>
          <a:ln/>
        </p:spPr>
      </p:sp>
      <p:pic>
        <p:nvPicPr>
          <p:cNvPr id="17" name="Image 3" descr="Docke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965380" y="1803400"/>
            <a:ext cx="660400" cy="660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942084" y="2552700"/>
            <a:ext cx="7069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Docker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021618" y="2908300"/>
            <a:ext cx="547926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Tema 4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471620" y="1600200"/>
            <a:ext cx="2047230" cy="1694160"/>
          </a:xfrm>
          <a:prstGeom prst="roundRect">
            <a:avLst>
              <a:gd name="adj" fmla="val 5622"/>
            </a:avLst>
          </a:prstGeom>
          <a:solidFill>
            <a:srgbClr val="F1F7F9"/>
          </a:solidFill>
          <a:ln/>
        </p:spPr>
      </p:sp>
      <p:pic>
        <p:nvPicPr>
          <p:cNvPr id="21" name="Image 4" descr="Terraform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165011" y="1803400"/>
            <a:ext cx="660400" cy="660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988357" y="2552700"/>
            <a:ext cx="101375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Terraform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0221248" y="2908300"/>
            <a:ext cx="547926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Tema 8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73100" y="3446760"/>
            <a:ext cx="2047230" cy="1960860"/>
          </a:xfrm>
          <a:prstGeom prst="roundRect">
            <a:avLst>
              <a:gd name="adj" fmla="val 4858"/>
            </a:avLst>
          </a:prstGeom>
          <a:solidFill>
            <a:srgbClr val="F1F7F9"/>
          </a:solidFill>
          <a:ln/>
        </p:spPr>
      </p:sp>
      <p:pic>
        <p:nvPicPr>
          <p:cNvPr id="25" name="Image 5" descr="GitHub Actions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366490" y="3649960"/>
            <a:ext cx="660400" cy="6604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45584" y="4399260"/>
            <a:ext cx="15022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1422727" y="4754860"/>
            <a:ext cx="547926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Tema 9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2872730" y="3446760"/>
            <a:ext cx="2047230" cy="1960860"/>
          </a:xfrm>
          <a:prstGeom prst="roundRect">
            <a:avLst>
              <a:gd name="adj" fmla="val 4858"/>
            </a:avLst>
          </a:prstGeom>
          <a:solidFill>
            <a:srgbClr val="F1F7F9"/>
          </a:solidFill>
          <a:ln/>
        </p:spPr>
      </p:sp>
      <p:pic>
        <p:nvPicPr>
          <p:cNvPr id="29" name="Image 6" descr="Conventional Commits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566120" y="3649960"/>
            <a:ext cx="660400" cy="6604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2972832" y="4399260"/>
            <a:ext cx="18470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Conventional Commits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3576930" y="5021560"/>
            <a:ext cx="63883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Tema 10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5072360" y="3446760"/>
            <a:ext cx="2047230" cy="1960860"/>
          </a:xfrm>
          <a:prstGeom prst="roundRect">
            <a:avLst>
              <a:gd name="adj" fmla="val 4858"/>
            </a:avLst>
          </a:prstGeom>
          <a:solidFill>
            <a:srgbClr val="F1F7F9"/>
          </a:solidFill>
          <a:ln/>
        </p:spPr>
      </p:sp>
      <p:pic>
        <p:nvPicPr>
          <p:cNvPr id="33" name="Image 7" descr="Trello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765750" y="3649960"/>
            <a:ext cx="660400" cy="6604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804778" y="4399260"/>
            <a:ext cx="58239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Trello</a:t>
            </a:r>
            <a:endParaRPr lang="en-US" sz="1500" dirty="0"/>
          </a:p>
        </p:txBody>
      </p:sp>
      <p:sp>
        <p:nvSpPr>
          <p:cNvPr id="35" name="Text 25"/>
          <p:cNvSpPr/>
          <p:nvPr/>
        </p:nvSpPr>
        <p:spPr>
          <a:xfrm>
            <a:off x="5776560" y="4754860"/>
            <a:ext cx="63883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Tema 12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7271990" y="3446760"/>
            <a:ext cx="2047230" cy="1960860"/>
          </a:xfrm>
          <a:prstGeom prst="roundRect">
            <a:avLst>
              <a:gd name="adj" fmla="val 4858"/>
            </a:avLst>
          </a:prstGeom>
          <a:solidFill>
            <a:srgbClr val="F1F7F9"/>
          </a:solidFill>
          <a:ln/>
        </p:spPr>
      </p:sp>
      <p:pic>
        <p:nvPicPr>
          <p:cNvPr id="37" name="Image 8" descr="Ollama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965380" y="3649960"/>
            <a:ext cx="660400" cy="6604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933506" y="4399260"/>
            <a:ext cx="72419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Ollama</a:t>
            </a:r>
            <a:endParaRPr lang="en-US" sz="1500" dirty="0"/>
          </a:p>
        </p:txBody>
      </p:sp>
      <p:sp>
        <p:nvSpPr>
          <p:cNvPr id="39" name="Text 28"/>
          <p:cNvSpPr/>
          <p:nvPr/>
        </p:nvSpPr>
        <p:spPr>
          <a:xfrm>
            <a:off x="7433503" y="4754860"/>
            <a:ext cx="1724204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Lokalni LLM u projektu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9471620" y="3446760"/>
            <a:ext cx="2047230" cy="1960860"/>
          </a:xfrm>
          <a:prstGeom prst="roundRect">
            <a:avLst>
              <a:gd name="adj" fmla="val 4858"/>
            </a:avLst>
          </a:prstGeom>
          <a:solidFill>
            <a:srgbClr val="F1F7F9"/>
          </a:solidFill>
          <a:ln/>
        </p:spPr>
      </p:sp>
      <p:pic>
        <p:nvPicPr>
          <p:cNvPr id="41" name="Image 9" descr="Open WebUI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0165011" y="3649960"/>
            <a:ext cx="660400" cy="66040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9876145" y="4399260"/>
            <a:ext cx="123813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 WebUI</a:t>
            </a:r>
            <a:endParaRPr lang="en-US" sz="1500" dirty="0"/>
          </a:p>
        </p:txBody>
      </p:sp>
      <p:sp>
        <p:nvSpPr>
          <p:cNvPr id="43" name="Text 31"/>
          <p:cNvSpPr/>
          <p:nvPr/>
        </p:nvSpPr>
        <p:spPr>
          <a:xfrm>
            <a:off x="9533657" y="4754860"/>
            <a:ext cx="1923157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Sučelje za LLM u projektu</a:t>
            </a:r>
            <a:endParaRPr lang="en-US" sz="1200" dirty="0"/>
          </a:p>
        </p:txBody>
      </p:sp>
      <p:sp>
        <p:nvSpPr>
          <p:cNvPr id="44" name="Text 32"/>
          <p:cNvSpPr/>
          <p:nvPr/>
        </p:nvSpPr>
        <p:spPr>
          <a:xfrm>
            <a:off x="673100" y="6084590"/>
            <a:ext cx="1117117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Alati su primjeri: moguće su zamjene, npr. GitLab CI/CD ili drugi kanban alat.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1700" y="1866900"/>
            <a:ext cx="7435850" cy="25400"/>
          </a:xfrm>
          <a:prstGeom prst="rect">
            <a:avLst/>
          </a:prstGeom>
          <a:solidFill>
            <a:srgbClr val="00C3E3"/>
          </a:solidFill>
          <a:ln/>
        </p:spPr>
      </p:sp>
      <p:sp>
        <p:nvSpPr>
          <p:cNvPr id="3" name="Text 1"/>
          <p:cNvSpPr/>
          <p:nvPr/>
        </p:nvSpPr>
        <p:spPr>
          <a:xfrm>
            <a:off x="673100" y="488950"/>
            <a:ext cx="755650" cy="755650"/>
          </a:xfrm>
          <a:prstGeom prst="roundRect">
            <a:avLst>
              <a:gd name="adj" fmla="val 19328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</a:t>
            </a:r>
            <a:endParaRPr lang="en-US" sz="29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708150" y="592435"/>
            <a:ext cx="5275302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Projekt kroz semestar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73100" y="1651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73100" y="2286000"/>
            <a:ext cx="351439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Početak semestra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3100" y="2712690"/>
            <a:ext cx="3412034" cy="2280841"/>
          </a:xfrm>
          <a:prstGeom prst="roundRect">
            <a:avLst>
              <a:gd name="adj" fmla="val 4176"/>
            </a:avLst>
          </a:prstGeom>
          <a:solidFill>
            <a:srgbClr val="F1F7F9"/>
          </a:solidFill>
          <a:ln/>
        </p:spPr>
      </p:sp>
      <p:sp>
        <p:nvSpPr>
          <p:cNvPr id="8" name="Text 6"/>
          <p:cNvSpPr/>
          <p:nvPr/>
        </p:nvSpPr>
        <p:spPr>
          <a:xfrm>
            <a:off x="927100" y="2966690"/>
            <a:ext cx="2991155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Razgovor s velikim jezičnim modelom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27100" y="3667671"/>
            <a:ext cx="299115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Kratke Python skripte koje komuniciraju s odabranim LLM-om</a:t>
            </a:r>
            <a:endParaRPr lang="en-US" sz="1400" dirty="0"/>
          </a:p>
        </p:txBody>
      </p:sp>
      <p:pic>
        <p:nvPicPr>
          <p:cNvPr id="10" name="Image 0" descr="Pyth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27100" y="4282331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389934" y="1651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89934" y="2286000"/>
            <a:ext cx="351444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Nakon kontejnerizacije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89934" y="2712690"/>
            <a:ext cx="3412083" cy="2280841"/>
          </a:xfrm>
          <a:prstGeom prst="roundRect">
            <a:avLst>
              <a:gd name="adj" fmla="val 4176"/>
            </a:avLst>
          </a:prstGeom>
          <a:solidFill>
            <a:srgbClr val="F1F7F9"/>
          </a:solidFill>
          <a:ln/>
        </p:spPr>
      </p:sp>
      <p:sp>
        <p:nvSpPr>
          <p:cNvPr id="14" name="Text 11"/>
          <p:cNvSpPr/>
          <p:nvPr/>
        </p:nvSpPr>
        <p:spPr>
          <a:xfrm>
            <a:off x="4643934" y="2966690"/>
            <a:ext cx="2991206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Vlastiti LLM na lokalnom računalu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643934" y="3667671"/>
            <a:ext cx="29912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Manji LLM poslužen s Ollama i Open WebUI, uz Python skripte za testiranje</a:t>
            </a:r>
            <a:endParaRPr lang="en-US" sz="1400" dirty="0"/>
          </a:p>
        </p:txBody>
      </p:sp>
      <p:pic>
        <p:nvPicPr>
          <p:cNvPr id="16" name="Image 1" descr="Docke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43934" y="4282331"/>
            <a:ext cx="457200" cy="457200"/>
          </a:xfrm>
          <a:prstGeom prst="rect">
            <a:avLst/>
          </a:prstGeom>
        </p:spPr>
      </p:pic>
      <p:pic>
        <p:nvPicPr>
          <p:cNvPr id="17" name="Image 2" descr="Ollama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28134" y="4282331"/>
            <a:ext cx="457200" cy="457200"/>
          </a:xfrm>
          <a:prstGeom prst="rect">
            <a:avLst/>
          </a:prstGeom>
        </p:spPr>
      </p:pic>
      <p:pic>
        <p:nvPicPr>
          <p:cNvPr id="18" name="Image 3" descr="Open WebUI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12334" y="4282331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06817" y="1651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2E3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106817" y="2286000"/>
            <a:ext cx="351444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Nastavak semestra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8106817" y="2712690"/>
            <a:ext cx="3412083" cy="2280841"/>
          </a:xfrm>
          <a:prstGeom prst="roundRect">
            <a:avLst>
              <a:gd name="adj" fmla="val 4176"/>
            </a:avLst>
          </a:prstGeom>
          <a:solidFill>
            <a:srgbClr val="0B2E38"/>
          </a:solidFill>
          <a:ln/>
        </p:spPr>
      </p:sp>
      <p:sp>
        <p:nvSpPr>
          <p:cNvPr id="22" name="Text 16"/>
          <p:cNvSpPr/>
          <p:nvPr/>
        </p:nvSpPr>
        <p:spPr>
          <a:xfrm>
            <a:off x="8360817" y="2966690"/>
            <a:ext cx="2991206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C3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Razvojne operacije nad sustavom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8360817" y="3667671"/>
            <a:ext cx="29912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Isti sustav — na lokalnom i na udaljenom računalu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100" y="488950"/>
            <a:ext cx="755650" cy="755650"/>
          </a:xfrm>
          <a:prstGeom prst="roundRect">
            <a:avLst>
              <a:gd name="adj" fmla="val 19328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</a:t>
            </a:r>
            <a:endParaRPr lang="en-US" sz="29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708150" y="592435"/>
            <a:ext cx="4762738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Sustav koji gradimo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3100" y="1524000"/>
            <a:ext cx="1117117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Sustav, pokrenut u kontejnerima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2625" y="1901825"/>
            <a:ext cx="10826750" cy="1235670"/>
          </a:xfrm>
          <a:prstGeom prst="roundRect">
            <a:avLst>
              <a:gd name="adj" fmla="val 6938"/>
            </a:avLst>
          </a:prstGeom>
          <a:noFill/>
          <a:ln w="19050">
            <a:solidFill>
              <a:srgbClr val="00C3E3"/>
            </a:solidFill>
            <a:prstDash val="dash"/>
          </a:ln>
        </p:spPr>
      </p:sp>
      <p:pic>
        <p:nvPicPr>
          <p:cNvPr id="6" name="Image 0" descr="Dock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2200" y="2133600"/>
            <a:ext cx="508000" cy="50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7957" y="2692400"/>
            <a:ext cx="5364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Docker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822450" y="2089150"/>
            <a:ext cx="2895600" cy="861020"/>
          </a:xfrm>
          <a:prstGeom prst="roundRect">
            <a:avLst>
              <a:gd name="adj" fmla="val 8850"/>
            </a:avLst>
          </a:prstGeom>
          <a:solidFill>
            <a:srgbClr val="F1F7F9"/>
          </a:solidFill>
          <a:ln/>
        </p:spPr>
      </p:sp>
      <p:pic>
        <p:nvPicPr>
          <p:cNvPr id="9" name="Image 1" descr="Pytho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00250" y="2316460"/>
            <a:ext cx="40640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33650" y="2266950"/>
            <a:ext cx="14842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skripte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533650" y="2559050"/>
            <a:ext cx="1287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testiraju sustav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53610" y="232410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5124450" y="2089150"/>
            <a:ext cx="2895600" cy="861020"/>
          </a:xfrm>
          <a:prstGeom prst="roundRect">
            <a:avLst>
              <a:gd name="adj" fmla="val 8850"/>
            </a:avLst>
          </a:prstGeom>
          <a:solidFill>
            <a:srgbClr val="F1F7F9"/>
          </a:solidFill>
          <a:ln/>
        </p:spPr>
      </p:sp>
      <p:pic>
        <p:nvPicPr>
          <p:cNvPr id="14" name="Image 2" descr="Open WebUI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02250" y="2316460"/>
            <a:ext cx="406400" cy="406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35650" y="2266950"/>
            <a:ext cx="12479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 WebUI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835650" y="2559050"/>
            <a:ext cx="14365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sučelje za razgovor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055610" y="232410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8426450" y="2089150"/>
            <a:ext cx="2895600" cy="861020"/>
          </a:xfrm>
          <a:prstGeom prst="roundRect">
            <a:avLst>
              <a:gd name="adj" fmla="val 8850"/>
            </a:avLst>
          </a:prstGeom>
          <a:solidFill>
            <a:srgbClr val="00C3E3"/>
          </a:solidFill>
          <a:ln/>
        </p:spPr>
      </p:sp>
      <p:pic>
        <p:nvPicPr>
          <p:cNvPr id="19" name="Image 3" descr="Ollama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04250" y="2316460"/>
            <a:ext cx="406400" cy="4064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37650" y="2266950"/>
            <a:ext cx="134550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Ollama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137650" y="2559050"/>
            <a:ext cx="15536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poslužuje manji LLM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73100" y="3426420"/>
            <a:ext cx="1117117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Put od koda do udaljenog računala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73100" y="3794720"/>
            <a:ext cx="2444750" cy="1127720"/>
          </a:xfrm>
          <a:prstGeom prst="roundRect">
            <a:avLst>
              <a:gd name="adj" fmla="val 6757"/>
            </a:avLst>
          </a:prstGeom>
          <a:solidFill>
            <a:srgbClr val="F1F7F9"/>
          </a:solidFill>
          <a:ln/>
        </p:spPr>
      </p:sp>
      <p:pic>
        <p:nvPicPr>
          <p:cNvPr id="24" name="Image 4" descr="GitHub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50900" y="4155380"/>
            <a:ext cx="406400" cy="4064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84300" y="4105870"/>
            <a:ext cx="7648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Kod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1384300" y="4397970"/>
            <a:ext cx="8568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 i GitHub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3128010" y="41630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3473450" y="3794720"/>
            <a:ext cx="2444750" cy="1127720"/>
          </a:xfrm>
          <a:prstGeom prst="roundRect">
            <a:avLst>
              <a:gd name="adj" fmla="val 6757"/>
            </a:avLst>
          </a:prstGeom>
          <a:solidFill>
            <a:srgbClr val="F1F7F9"/>
          </a:solidFill>
          <a:ln/>
        </p:spPr>
      </p:sp>
      <p:pic>
        <p:nvPicPr>
          <p:cNvPr id="29" name="Image 5" descr="GitHub Actions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651250" y="4155380"/>
            <a:ext cx="406400" cy="4064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184650" y="4105870"/>
            <a:ext cx="100057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CI/CD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4184650" y="4397970"/>
            <a:ext cx="11397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5928360" y="41630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Shape 25"/>
          <p:cNvSpPr/>
          <p:nvPr/>
        </p:nvSpPr>
        <p:spPr>
          <a:xfrm>
            <a:off x="6273800" y="3794720"/>
            <a:ext cx="2444750" cy="1127720"/>
          </a:xfrm>
          <a:prstGeom prst="roundRect">
            <a:avLst>
              <a:gd name="adj" fmla="val 6757"/>
            </a:avLst>
          </a:prstGeom>
          <a:solidFill>
            <a:srgbClr val="F1F7F9"/>
          </a:solidFill>
          <a:ln/>
        </p:spPr>
      </p:sp>
      <p:pic>
        <p:nvPicPr>
          <p:cNvPr id="34" name="Image 6" descr="Terraform">    </p:cNvPr>
          <p:cNvPicPr>
            <a:picLocks noChangeAspect="1"/>
          </p:cNvPicPr>
          <p:nvPr/>
        </p:nvPicPr>
        <p:blipFill>
          <a:blip r:embed="rId7"/>
          <a:srcRect l="0" r="0" t="-8472" b="-8472"/>
          <a:stretch/>
        </p:blipFill>
        <p:spPr>
          <a:xfrm>
            <a:off x="6451600" y="4155380"/>
            <a:ext cx="347514" cy="4064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926114" y="3972520"/>
            <a:ext cx="166543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Infrastruktura kao kod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6926114" y="4531320"/>
            <a:ext cx="16654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Terraform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8728710" y="41630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2200" dirty="0"/>
          </a:p>
        </p:txBody>
      </p:sp>
      <p:sp>
        <p:nvSpPr>
          <p:cNvPr id="38" name="Shape 29"/>
          <p:cNvSpPr/>
          <p:nvPr/>
        </p:nvSpPr>
        <p:spPr>
          <a:xfrm>
            <a:off x="9074150" y="3794720"/>
            <a:ext cx="2444750" cy="1127720"/>
          </a:xfrm>
          <a:prstGeom prst="roundRect">
            <a:avLst>
              <a:gd name="adj" fmla="val 6757"/>
            </a:avLst>
          </a:prstGeom>
          <a:solidFill>
            <a:srgbClr val="0B2E38"/>
          </a:solidFill>
          <a:ln/>
        </p:spPr>
      </p:sp>
      <p:sp>
        <p:nvSpPr>
          <p:cNvPr id="39" name="Text 30"/>
          <p:cNvSpPr/>
          <p:nvPr/>
        </p:nvSpPr>
        <p:spPr>
          <a:xfrm>
            <a:off x="9251950" y="4105870"/>
            <a:ext cx="21518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Udaljeno računalo</a:t>
            </a:r>
            <a:endParaRPr lang="en-US" sz="1500" dirty="0"/>
          </a:p>
        </p:txBody>
      </p:sp>
      <p:sp>
        <p:nvSpPr>
          <p:cNvPr id="40" name="Text 31"/>
          <p:cNvSpPr/>
          <p:nvPr/>
        </p:nvSpPr>
        <p:spPr>
          <a:xfrm>
            <a:off x="9251950" y="4397970"/>
            <a:ext cx="21518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7A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lansiran i nadgledan sustav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673100" y="6084590"/>
            <a:ext cx="1117117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Gornji red je ono što gradimo, donji red je kako to isporučujemo.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100" y="488950"/>
            <a:ext cx="755650" cy="755650"/>
          </a:xfrm>
          <a:prstGeom prst="roundRect">
            <a:avLst>
              <a:gd name="adj" fmla="val 19328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</a:t>
            </a:r>
            <a:endParaRPr lang="en-US" sz="29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708150" y="592435"/>
            <a:ext cx="2581930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Način rada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73100" y="1651000"/>
            <a:ext cx="3344317" cy="1739801"/>
          </a:xfrm>
          <a:prstGeom prst="roundRect">
            <a:avLst>
              <a:gd name="adj" fmla="val 5475"/>
            </a:avLst>
          </a:prstGeom>
          <a:solidFill>
            <a:srgbClr val="00C3E3"/>
          </a:solidFill>
          <a:ln/>
        </p:spPr>
      </p:sp>
      <p:sp>
        <p:nvSpPr>
          <p:cNvPr id="5" name="Text 3"/>
          <p:cNvSpPr/>
          <p:nvPr/>
        </p:nvSpPr>
        <p:spPr>
          <a:xfrm>
            <a:off x="927100" y="1905000"/>
            <a:ext cx="2921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Teorija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27100" y="2255490"/>
            <a:ext cx="292140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Predavanje ili prezentacija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37737" y="2307530"/>
            <a:ext cx="365760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23817" y="1651000"/>
            <a:ext cx="3344366" cy="1739801"/>
          </a:xfrm>
          <a:prstGeom prst="roundRect">
            <a:avLst>
              <a:gd name="adj" fmla="val 5475"/>
            </a:avLst>
          </a:prstGeom>
          <a:solidFill>
            <a:srgbClr val="00C3E3"/>
          </a:solidFill>
          <a:ln/>
        </p:spPr>
      </p:sp>
      <p:sp>
        <p:nvSpPr>
          <p:cNvPr id="9" name="Text 7"/>
          <p:cNvSpPr/>
          <p:nvPr/>
        </p:nvSpPr>
        <p:spPr>
          <a:xfrm>
            <a:off x="4677817" y="1905000"/>
            <a:ext cx="292145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Praksa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77817" y="2255490"/>
            <a:ext cx="292145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Kraći praktični zadaci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77817" y="2631380"/>
            <a:ext cx="292145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individualno i u grupi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88503" y="2307530"/>
            <a:ext cx="365760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174583" y="1651000"/>
            <a:ext cx="3344317" cy="1739801"/>
          </a:xfrm>
          <a:prstGeom prst="roundRect">
            <a:avLst>
              <a:gd name="adj" fmla="val 5475"/>
            </a:avLst>
          </a:prstGeom>
          <a:solidFill>
            <a:srgbClr val="0B2E38"/>
          </a:solidFill>
          <a:ln/>
        </p:spPr>
      </p:sp>
      <p:sp>
        <p:nvSpPr>
          <p:cNvPr id="14" name="Text 12"/>
          <p:cNvSpPr/>
          <p:nvPr/>
        </p:nvSpPr>
        <p:spPr>
          <a:xfrm>
            <a:off x="8428583" y="1905000"/>
            <a:ext cx="2921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C3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Projekt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28583" y="2255490"/>
            <a:ext cx="2921406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Prezentacija projektnog zadatka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28583" y="2905671"/>
            <a:ext cx="292140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3A7A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 grupom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3100" y="3797201"/>
            <a:ext cx="10845800" cy="1106140"/>
          </a:xfrm>
          <a:prstGeom prst="roundRect">
            <a:avLst>
              <a:gd name="adj" fmla="val 8611"/>
            </a:avLst>
          </a:prstGeom>
          <a:solidFill>
            <a:srgbClr val="F1F7F9"/>
          </a:solidFill>
          <a:ln/>
        </p:spPr>
      </p:sp>
      <p:sp>
        <p:nvSpPr>
          <p:cNvPr id="18" name="Text 16"/>
          <p:cNvSpPr/>
          <p:nvPr/>
        </p:nvSpPr>
        <p:spPr>
          <a:xfrm>
            <a:off x="977900" y="4051201"/>
            <a:ext cx="1054328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Projektni zadaci dolaze iz stvarnog okruženja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7900" y="4401691"/>
            <a:ext cx="1054328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Pripremaju ih nositelj kolegija i suradnici iz privrede; od studenata se traži primjena stečenih znanja.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100" y="488950"/>
            <a:ext cx="755650" cy="755650"/>
          </a:xfrm>
          <a:prstGeom prst="roundRect">
            <a:avLst>
              <a:gd name="adj" fmla="val 19328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</a:t>
            </a:r>
            <a:endParaRPr lang="en-US" sz="29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708150" y="592435"/>
            <a:ext cx="7905690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Vrednovanje i studentske obveze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3100" y="1651000"/>
            <a:ext cx="9810750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Vrednuju se napredak i rezultati, kroz tri elementa: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3100" y="2354560"/>
            <a:ext cx="3496717" cy="2484041"/>
          </a:xfrm>
          <a:prstGeom prst="roundRect">
            <a:avLst>
              <a:gd name="adj" fmla="val 3834"/>
            </a:avLst>
          </a:prstGeom>
          <a:solidFill>
            <a:srgbClr val="F1F7F9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63396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52500" y="3395960"/>
            <a:ext cx="3026054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Rezultati kraćih praktičnih zadataka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4096941"/>
            <a:ext cx="302605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Pregled rezultata zadataka kroz semestar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7617" y="2354560"/>
            <a:ext cx="3496717" cy="2484041"/>
          </a:xfrm>
          <a:prstGeom prst="roundRect">
            <a:avLst>
              <a:gd name="adj" fmla="val 3834"/>
            </a:avLst>
          </a:prstGeom>
          <a:solidFill>
            <a:srgbClr val="F1F7F9"/>
          </a:solidFill>
          <a:ln/>
        </p:spPr>
      </p:sp>
      <p:sp>
        <p:nvSpPr>
          <p:cNvPr id="10" name="Text 8"/>
          <p:cNvSpPr/>
          <p:nvPr/>
        </p:nvSpPr>
        <p:spPr>
          <a:xfrm>
            <a:off x="4627017" y="263396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27017" y="3395960"/>
            <a:ext cx="3026054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Rješavanje individualnih i grupnih zadaća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7017" y="4096941"/>
            <a:ext cx="302605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Sposobnost da samostalno i u timu dođeš do rješenja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22134" y="2354560"/>
            <a:ext cx="3496766" cy="2484041"/>
          </a:xfrm>
          <a:prstGeom prst="roundRect">
            <a:avLst>
              <a:gd name="adj" fmla="val 3834"/>
            </a:avLst>
          </a:prstGeom>
          <a:solidFill>
            <a:srgbClr val="0B2E38"/>
          </a:solidFill>
          <a:ln/>
        </p:spPr>
      </p:sp>
      <p:sp>
        <p:nvSpPr>
          <p:cNvPr id="14" name="Text 12"/>
          <p:cNvSpPr/>
          <p:nvPr/>
        </p:nvSpPr>
        <p:spPr>
          <a:xfrm>
            <a:off x="8301534" y="263396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01534" y="3395960"/>
            <a:ext cx="3026105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C3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Prezentacija projektnog zadatka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01534" y="4096941"/>
            <a:ext cx="302610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Studenti predstavljaju rješenje pred grupom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100" y="488950"/>
            <a:ext cx="755650" cy="755650"/>
          </a:xfrm>
          <a:prstGeom prst="roundRect">
            <a:avLst>
              <a:gd name="adj" fmla="val 19328"/>
            </a:avLst>
          </a:prstGeom>
          <a:solidFill>
            <a:srgbClr val="00C3E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0B2E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</a:t>
            </a:r>
            <a:endParaRPr lang="en-US" sz="29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708150" y="592435"/>
            <a:ext cx="4318873" cy="5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Rokovi i literatura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73100" y="1651000"/>
            <a:ext cx="3879255" cy="3293021"/>
          </a:xfrm>
          <a:prstGeom prst="roundRect">
            <a:avLst>
              <a:gd name="adj" fmla="val 2892"/>
            </a:avLst>
          </a:prstGeom>
          <a:solidFill>
            <a:srgbClr val="F1F7F9"/>
          </a:solidFill>
          <a:ln/>
        </p:spPr>
      </p:sp>
      <p:sp>
        <p:nvSpPr>
          <p:cNvPr id="5" name="Text 3"/>
          <p:cNvSpPr/>
          <p:nvPr/>
        </p:nvSpPr>
        <p:spPr>
          <a:xfrm>
            <a:off x="977900" y="1955800"/>
            <a:ext cx="33677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Rokovi ispita i kolokvija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7900" y="2357090"/>
            <a:ext cx="3367744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Mrežne stranice Fakulteta i Studomat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77900" y="3180011"/>
            <a:ext cx="336774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Svi datumi objavljuju se službenim kanalima.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30155" y="1651000"/>
            <a:ext cx="6788745" cy="3293021"/>
          </a:xfrm>
          <a:prstGeom prst="roundRect">
            <a:avLst>
              <a:gd name="adj" fmla="val 2892"/>
            </a:avLst>
          </a:prstGeom>
          <a:solidFill>
            <a:srgbClr val="F1F7F9"/>
          </a:solidFill>
          <a:ln/>
        </p:spPr>
      </p:sp>
      <p:sp>
        <p:nvSpPr>
          <p:cNvPr id="9" name="Text 7"/>
          <p:cNvSpPr/>
          <p:nvPr/>
        </p:nvSpPr>
        <p:spPr>
          <a:xfrm>
            <a:off x="5034955" y="1955800"/>
            <a:ext cx="63645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Literatura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34955" y="2357090"/>
            <a:ext cx="636452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Literatura prema specifičnim zahtjevima područja poslovnog subjekta te ona raspoloživa ili korištena tijekom studija. Preporučeno: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34955" y="2971750"/>
            <a:ext cx="50800" cy="757535"/>
          </a:xfrm>
          <a:prstGeom prst="roundRect">
            <a:avLst>
              <a:gd name="adj" fmla="val 50000"/>
            </a:avLst>
          </a:prstGeom>
          <a:solidFill>
            <a:srgbClr val="00C3E3"/>
          </a:solidFill>
          <a:ln/>
        </p:spPr>
      </p:sp>
      <p:sp>
        <p:nvSpPr>
          <p:cNvPr id="12" name="Text 10"/>
          <p:cNvSpPr/>
          <p:nvPr/>
        </p:nvSpPr>
        <p:spPr>
          <a:xfrm>
            <a:off x="5238155" y="2971750"/>
            <a:ext cx="615522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Accelerate: The Science of Lean Software and DevOps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38155" y="3253680"/>
            <a:ext cx="6155224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i="1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Building and Scaling High Performing Technology Organizations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8155" y="3498155"/>
            <a:ext cx="61552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Nicole Forsgren, Jez Humble, Gene Kim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34955" y="3881686"/>
            <a:ext cx="50800" cy="757535"/>
          </a:xfrm>
          <a:prstGeom prst="roundRect">
            <a:avLst>
              <a:gd name="adj" fmla="val 50000"/>
            </a:avLst>
          </a:prstGeom>
          <a:solidFill>
            <a:srgbClr val="0B2E38"/>
          </a:solidFill>
          <a:ln/>
        </p:spPr>
      </p:sp>
      <p:sp>
        <p:nvSpPr>
          <p:cNvPr id="16" name="Text 14"/>
          <p:cNvSpPr/>
          <p:nvPr/>
        </p:nvSpPr>
        <p:spPr>
          <a:xfrm>
            <a:off x="5238155" y="3881686"/>
            <a:ext cx="615522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0788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Continuous Integration (CI) and Continuous Delivery (CD)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38155" y="4163616"/>
            <a:ext cx="6155224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i="1" dirty="0">
                <a:solidFill>
                  <a:srgbClr val="5A6B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Practical Guide to Designing and Developing Pipelines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38155" y="4408091"/>
            <a:ext cx="61552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A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Henry van Merode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79700" cy="2679700"/>
          </a:xfrm>
          <a:prstGeom prst="roundRect">
            <a:avLst>
              <a:gd name="adj" fmla="val 50000"/>
            </a:avLst>
          </a:prstGeom>
          <a:solidFill>
            <a:srgbClr val="00C3E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31500" y="5365750"/>
            <a:ext cx="2197100" cy="2197100"/>
          </a:xfrm>
          <a:prstGeom prst="roundRect">
            <a:avLst>
              <a:gd name="adj" fmla="val 50000"/>
            </a:avLst>
          </a:prstGeom>
          <a:solidFill>
            <a:srgbClr val="00C3E3">
              <a:alpha val="12000"/>
            </a:srgbClr>
          </a:solidFill>
          <a:ln/>
        </p:spPr>
      </p:sp>
      <p:sp>
        <p:nvSpPr>
          <p:cNvPr id="4" name="Text 2"/>
          <p:cNvSpPr/>
          <p:nvPr>
            <p:ph type="title"/>
          </p:nvPr>
        </p:nvSpPr>
        <p:spPr>
          <a:xfrm>
            <a:off x="673100" y="488950"/>
            <a:ext cx="11171174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5500" b="1" i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Hvala na pažnji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673100" y="1384300"/>
            <a:ext cx="1117117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00C3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Pitanja?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73100" y="5981700"/>
            <a:ext cx="7848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3A7A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Praktikum · Fakultet informatike u Puli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aktikum — izvedbeni plan nastave">
  <a:themeElements>
    <a:clrScheme name="Praktikum — izvedbeni plan nastave">
      <a:dk1>
        <a:srgbClr val="1D2A2F"/>
      </a:dk1>
      <a:lt1>
        <a:srgbClr val="FFFFFF"/>
      </a:lt1>
      <a:dk2>
        <a:srgbClr val="565F63"/>
      </a:dk2>
      <a:lt2>
        <a:srgbClr val="E8EAEA"/>
      </a:lt2>
      <a:accent1>
        <a:srgbClr val="00C3E3"/>
      </a:accent1>
      <a:accent2>
        <a:srgbClr val="00788C"/>
      </a:accent2>
      <a:accent3>
        <a:srgbClr val="5A6B70"/>
      </a:accent3>
      <a:accent4>
        <a:srgbClr val="93A7AD"/>
      </a:accent4>
      <a:accent5>
        <a:srgbClr val="9AA0A6"/>
      </a:accent5>
      <a:accent6>
        <a:srgbClr val="777F82"/>
      </a:accent6>
      <a:hlink>
        <a:srgbClr val="0563C1"/>
      </a:hlink>
      <a:folHlink>
        <a:srgbClr val="954F72"/>
      </a:folHlink>
    </a:clrScheme>
    <a:fontScheme name="Praktikum — izvedbeni plan nastave">
      <a:majorFont>
        <a:latin typeface="Source Sans 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Praktikum — izvedbeni plan nastave</dc:title>
  <dc:subject/>
  <dc:creator/>
  <cp:lastModifiedBy/>
  <cp:revision>1</cp:revision>
  <dcterms:created xsi:type="dcterms:W3CDTF">2026-10-07T11:42:36Z</dcterms:created>
  <dcterms:modified xsi:type="dcterms:W3CDTF">2026-10-07T11:42:36Z</dcterms:modified>
</cp:coreProperties>
</file>